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261" r:id="rId3"/>
    <p:sldId id="281" r:id="rId4"/>
    <p:sldId id="282" r:id="rId5"/>
    <p:sldId id="284" r:id="rId6"/>
    <p:sldId id="285" r:id="rId7"/>
    <p:sldId id="320" r:id="rId8"/>
    <p:sldId id="313" r:id="rId9"/>
    <p:sldId id="288" r:id="rId10"/>
    <p:sldId id="287" r:id="rId11"/>
    <p:sldId id="286" r:id="rId12"/>
    <p:sldId id="289" r:id="rId13"/>
    <p:sldId id="290" r:id="rId14"/>
    <p:sldId id="316" r:id="rId15"/>
    <p:sldId id="311" r:id="rId16"/>
    <p:sldId id="317" r:id="rId17"/>
    <p:sldId id="291" r:id="rId18"/>
    <p:sldId id="296" r:id="rId19"/>
    <p:sldId id="315" r:id="rId20"/>
    <p:sldId id="314" r:id="rId21"/>
    <p:sldId id="270" r:id="rId22"/>
    <p:sldId id="318" r:id="rId23"/>
    <p:sldId id="321" r:id="rId2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CC1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9138" autoAdjust="0"/>
  </p:normalViewPr>
  <p:slideViewPr>
    <p:cSldViewPr>
      <p:cViewPr varScale="1">
        <p:scale>
          <a:sx n="94" d="100"/>
          <a:sy n="94" d="100"/>
        </p:scale>
        <p:origin x="1109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26AB68D-B4D1-8FD8-05FA-19F5906AEF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7C7EA8-C9CF-589F-FA63-DEDD4F7F2E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F2DD6-B5B3-45CE-B64E-3D17589984B2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60B909-E6F8-1EDF-B6C9-E162A68D08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&amp;[НомерСлайда] / &amp;[ВсегоСлайдов]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7E1463-D756-73B3-657F-4A9AA9078D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F7F15-E596-439F-907C-136DA617D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40237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1:27:51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&amp;[НомерСлайда] / &amp;[ВсегоСлайдов]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день, уважаемый Ленар Ринатович! Добрый день, коллеги.</a:t>
            </a:r>
          </a:p>
          <a:p>
            <a:r>
              <a:rPr lang="ru-RU" dirty="0"/>
              <a:t>Согласно поручению</a:t>
            </a:r>
            <a:r>
              <a:rPr lang="ru-RU" baseline="0" dirty="0"/>
              <a:t> ректора по рекомендациям по использованию фирменного стиля, мы разослали всем руководителям подразделений письмо с просьбой предоставить нам обратную связь в виде предложений по изменению и корректировкам связанными с использованием фирменного стиля в презентациях.</a:t>
            </a:r>
          </a:p>
          <a:p>
            <a:r>
              <a:rPr lang="ru-RU" baseline="0" dirty="0"/>
              <a:t>Все полученные рекомендации мы разбили на три категории: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оформлению презентации;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внедрению новых единых стилеобразующих элементов;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структуре презентаций.</a:t>
            </a:r>
          </a:p>
          <a:p>
            <a:pPr marL="228600" indent="-228600">
              <a:buAutoNum type="arabicParenR"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Заголовок: </a:t>
            </a:r>
            <a:r>
              <a:rPr lang="en-US" dirty="0"/>
              <a:t>PT Sans Caption </a:t>
            </a:r>
            <a:r>
              <a:rPr lang="ru-RU" dirty="0"/>
              <a:t>18</a:t>
            </a:r>
          </a:p>
          <a:p>
            <a:pPr marL="0" indent="0">
              <a:buNone/>
            </a:pPr>
            <a:r>
              <a:rPr lang="ru-RU" baseline="0" dirty="0"/>
              <a:t>Имя: </a:t>
            </a:r>
            <a:r>
              <a:rPr lang="en-US" dirty="0"/>
              <a:t>PT Sans </a:t>
            </a:r>
            <a:r>
              <a:rPr lang="ru-RU" dirty="0"/>
              <a:t>полужирный</a:t>
            </a:r>
            <a:r>
              <a:rPr lang="en-US" dirty="0"/>
              <a:t> </a:t>
            </a:r>
            <a:r>
              <a:rPr lang="ru-RU" dirty="0"/>
              <a:t>16</a:t>
            </a:r>
            <a:endParaRPr lang="ru-RU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/>
              <a:t>Контакты и должность: </a:t>
            </a:r>
            <a:r>
              <a:rPr lang="en-US" dirty="0"/>
              <a:t>PT Sans </a:t>
            </a:r>
            <a:r>
              <a:rPr lang="ru-RU" dirty="0"/>
              <a:t>12</a:t>
            </a:r>
            <a:endParaRPr lang="ru-RU" baseline="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3E7556-74B2-C3D2-807B-B10429F6F6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6C6F6E-3BB4-3EEF-7544-9D6B013CB4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871452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26C8-3008-0222-0103-63DE7D45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A42442-C62B-F2D9-7114-EE6956D77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9C7876-3FE2-D662-9413-3E7771B20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8D044A-DA34-A7A5-FB47-311EF1404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B936EA-C44D-E39B-FF55-1B81D9FBA4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50458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A703-79ED-1575-947C-A94FDE4F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14EEFE-4A57-12F4-9C03-E331C5F9E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02B51C1-1DF5-6B41-72EC-58C5580EA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49BD88-E76B-D53C-C682-E3758235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BCA2E0-C784-46D0-82E4-7AFBE7175B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1636931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EB4E-331A-14DC-F053-7F7C5589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45D973-7639-32A7-0253-7994B509D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5BF73A-FABD-0BB5-D2CA-46FF642E2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7FA2C5-622C-9C34-46C1-769D8C16C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C41E9C-B642-1B68-E3E2-9EB445BCAC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354817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3DF5-E01A-FC61-1A56-83E54A38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896F63-5069-4979-9B51-E69699192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E8FE08-ED82-91BA-001C-57754FBD5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AA021F-BA51-931B-9BA6-44AFDE468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44D2E-2C0E-F4D9-3612-545AC9445A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4182200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78A5-5E3D-E7FF-1D87-E972BA3E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6F0A0B-028D-7C48-44E1-CAE4731FE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7B7706-79F0-B45D-7DC8-88693EB55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72D4EC-05DA-4B54-E10B-938102B7A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2CB7A-2BC6-D09E-87C1-6746E03B45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98869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483F-C311-7310-4A1D-DC7487FB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1BE3BF-F1A8-8994-3D04-538AA0BD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5F1061-E4B4-1271-9C21-2B2667653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344B8B-6027-2E8C-2308-9EA753FCA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A656E0-1AC2-8B7F-5B68-CC2E6E8687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4090010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FB48F-D677-A422-99BB-8D3182B0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8375A9-64EC-6C48-7D24-9C4B83CC8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81E5C8-B7CD-FE7D-BA50-CF790342C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D752F4-24AE-3D71-28DD-EFFF424CB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AA5044-9187-27AD-2F42-E7C4B7B49D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1296156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3959-3341-93F3-D75E-8103EA50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444936-A83F-6D6E-2947-23B06C800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6641CA-A912-9464-C18D-E2D1AF848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D3A59A-E60D-6E2D-FA66-1322C7794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81084D-D0A2-AB4C-527E-6CC94E8748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820711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920E-37D1-E9DE-86B1-F471EB29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D05BDD-C5CB-AFDC-1D95-D9CB45995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6834A6-21DE-F6CA-598D-2CFC2D6FD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CC95CD-B797-E761-CA1C-FF0983EA6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DA078-60CF-62DA-6253-AFB5BB4BDE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619822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68FD-9AF8-DB46-499E-54F74B51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F195D0-B4C0-E285-CD5A-838EC345C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EED9A9-F089-4BB3-B1CA-CF8F361F8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DF9778-1DB9-48F6-413C-A8669F187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816987-8BF9-FBB4-1344-F99786A2A9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098476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659B-1589-FDBB-5A05-10231377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473A0D-B0CE-1303-4621-0BB729A6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BFBEEE-A1A4-E0BD-5C28-0564C9C26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593611-C7F8-4964-D655-EC4FF9549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3753F-B5A4-CD97-D9B6-73992D46C4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466157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73A6-6DDE-99F7-95F3-89C971924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7908C5-9FF3-76AF-7834-A2711D726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07504C-0C2D-035D-F857-25EA4C10A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4D8A38-1959-58F5-73FC-0899C80B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61555-4BE2-C02E-31AF-BA208249B0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222423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7511-9515-EFFB-D0AB-1EFB28D0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AACC4D-36DC-F41A-60F9-E3BA738F5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03C14A4-C2BF-930A-2D4E-F596F83F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F199C9-AACE-FCBC-58A3-AC3959F7C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A0798F-41D2-1196-1247-CA4A82444F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550176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7A46-8538-9EAC-32B8-405E8B6B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24C074-0C22-6855-4669-DF25A7365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4E2439-CD49-99C5-B17D-BC071406F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926005-82E6-0D01-D16A-052C2FB42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16BB57-13EA-D341-97A6-3FE6450191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4098747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DAA40-82FB-E9F1-1AD7-A1C6A968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8F01A6-FDA7-6973-D425-171BD6AEC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C71686D-ABED-2BAB-DF79-71676A2B7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A65712-D693-0EB8-49C9-8A92E8287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560BB0-B25F-9F58-6FA2-2E451B8797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470119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1B42-E07F-E7AD-0EE9-4FC67FA8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3E903B-F4D2-5E9B-C68F-2659986FE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A4848D-DA5A-9A14-1F51-D94808DE0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11AADC-7791-840C-EE9B-62C843FCF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BBDD04-B58C-87DA-A625-E145D0957F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466159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D1F7-0FD2-8852-10B1-B9542165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DD1C57-F2F8-DD3E-10EE-7A6BDEE22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E4D182-0662-8DCB-64AE-C9748F771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BA8BF9-AE6F-E86F-003B-069FC36D5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F70D9-ECBE-88A4-C662-20D4FA3421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3461880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EA7B5D-229F-F18F-5159-334D33CA58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B3D7-BAFD-947A-0350-1CE0212C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68E36D-CF69-38ED-F2DA-6623FE3C6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097572E-A60F-21D8-AE6D-8DBB4621D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EA1CFF-1B88-F79E-33B7-C6D78582D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8348F1-F6FB-71D3-EE2B-4EA2E9E165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&amp;[НомерСлайда] / &amp;[ВсегоСлайдов]</a:t>
            </a:r>
          </a:p>
        </p:txBody>
      </p:sp>
    </p:spTree>
    <p:extLst>
      <p:ext uri="{BB962C8B-B14F-4D97-AF65-F5344CB8AC3E}">
        <p14:creationId xmlns:p14="http://schemas.microsoft.com/office/powerpoint/2010/main" val="2051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D9B4-C804-4FA1-BE8B-4E92E495382C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FDB6-1DDA-43BE-8F24-4810331E6742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6D4F-ED12-4D82-A96A-252AC78563CE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606C-58E2-40D8-A9E4-6FD8E8093554}" type="datetime1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3FE1-EF50-416E-9B24-BEAFB7387E4C}" type="datetime1">
              <a:rPr lang="ru-RU" smtClean="0"/>
              <a:t>30.06.2025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0144-CD20-4FDC-BB38-F68C41AA20E4}" type="datetime1">
              <a:rPr lang="ru-RU" smtClean="0"/>
              <a:t>30.06.2025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6DFD-4114-42B3-8856-210A696FFA2F}" type="datetime1">
              <a:rPr lang="ru-RU" smtClean="0"/>
              <a:t>30.06.2025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E0F1-D807-455A-AC39-FA896A5E20CC}" type="datetime1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A9555-B197-4459-8CEC-A4BB0243E09D}" type="datetime1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D3A5-5256-412D-91B6-BF46B397F8C6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5B0EC-1699-4B30-9360-14DF88E794E7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DC9A4-56A8-4174-A733-0C23424D1BCC}" type="datetime1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4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3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.emf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12" Type="http://schemas.microsoft.com/office/2007/relationships/hdphoto" Target="../media/hdphoto2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7.png"/><Relationship Id="rId5" Type="http://schemas.openxmlformats.org/officeDocument/2006/relationships/image" Target="../media/image3.png"/><Relationship Id="rId15" Type="http://schemas.openxmlformats.org/officeDocument/2006/relationships/image" Target="../media/image33.png"/><Relationship Id="rId10" Type="http://schemas.openxmlformats.org/officeDocument/2006/relationships/image" Target="../media/image5.png"/><Relationship Id="rId4" Type="http://schemas.microsoft.com/office/2007/relationships/hdphoto" Target="../media/hdphoto1.wdp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32.emf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721D61-F105-393D-B39B-6269E0DA8ACF}"/>
              </a:ext>
            </a:extLst>
          </p:cNvPr>
          <p:cNvSpPr/>
          <p:nvPr/>
        </p:nvSpPr>
        <p:spPr>
          <a:xfrm>
            <a:off x="5796135" y="0"/>
            <a:ext cx="3347865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1994628"/>
            <a:ext cx="525658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PT Sans Caption" panose="020B0603020203020204" pitchFamily="34" charset="0"/>
              </a:rPr>
              <a:t>ИССЛЕДОВАНИЕ СИГНАЛОВ С ПОМОЩЬЮ МЕТОДА ЭМПИРИЧЕСКОЙ МОДОВОЙ ДЕКОМПОЗИЦИИ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65520"/>
            <a:ext cx="1837357" cy="351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8AFAC4-B2D5-2DBB-D8EF-09E8A08D5593}"/>
              </a:ext>
            </a:extLst>
          </p:cNvPr>
          <p:cNvSpPr txBox="1"/>
          <p:nvPr/>
        </p:nvSpPr>
        <p:spPr>
          <a:xfrm>
            <a:off x="5940152" y="2861523"/>
            <a:ext cx="32038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Работу выполнила:</a:t>
            </a: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Османова Рузия Мамед </a:t>
            </a:r>
            <a:r>
              <a:rPr lang="ru-RU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кызы</a:t>
            </a:r>
            <a:endParaRPr lang="ru-RU" sz="1600" b="1" dirty="0">
              <a:solidFill>
                <a:schemeClr val="accent5">
                  <a:lumMod val="20000"/>
                  <a:lumOff val="80000"/>
                </a:schemeClr>
              </a:solidFill>
              <a:latin typeface="PT Sans" panose="020B0503020203020204" pitchFamily="34" charset="-52"/>
            </a:endParaRPr>
          </a:p>
          <a:p>
            <a:endParaRPr lang="ru-RU" sz="1600" b="1" dirty="0">
              <a:solidFill>
                <a:schemeClr val="accent5">
                  <a:lumMod val="20000"/>
                  <a:lumOff val="80000"/>
                </a:schemeClr>
              </a:solidFill>
              <a:latin typeface="PT Sans" panose="020B0503020203020204" pitchFamily="34" charset="-52"/>
            </a:endParaRP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Под руководством:</a:t>
            </a: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кан. физ.-мат. наук, доцент</a:t>
            </a: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Саченков Оскар Александрович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FA874E-8772-6C59-1D64-32AFE6BA1F14}"/>
              </a:ext>
            </a:extLst>
          </p:cNvPr>
          <p:cNvSpPr/>
          <p:nvPr/>
        </p:nvSpPr>
        <p:spPr>
          <a:xfrm>
            <a:off x="8316416" y="313696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26BF2-5AE2-4403-971E-3EB8213263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744" y="390793"/>
            <a:ext cx="432928" cy="90081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DE3985-3AA9-FB8C-FBD9-BFC16FF4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764704" y="4717778"/>
            <a:ext cx="2133600" cy="273844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A22A4B-B07E-A88D-131A-CD190118BA21}"/>
              </a:ext>
            </a:extLst>
          </p:cNvPr>
          <p:cNvSpPr txBox="1"/>
          <p:nvPr/>
        </p:nvSpPr>
        <p:spPr>
          <a:xfrm>
            <a:off x="2886643" y="0"/>
            <a:ext cx="2971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pic>
        <p:nvPicPr>
          <p:cNvPr id="1026" name="Picture 2" descr="КОМПЛЕКС СТАБИЛОМЕТРИЧЕСКИЙ ST-150 — Медицинские расходные материалы оптом">
            <a:extLst>
              <a:ext uri="{FF2B5EF4-FFF2-40B4-BE49-F238E27FC236}">
                <a16:creationId xmlns:a16="http://schemas.microsoft.com/office/drawing/2014/main" id="{C9ECBFD9-2A06-4886-B570-60B3BE66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207" y="289797"/>
            <a:ext cx="2143710" cy="245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0530BB-3B68-4FB0-5484-79A7452CAE66}"/>
              </a:ext>
            </a:extLst>
          </p:cNvPr>
          <p:cNvSpPr txBox="1"/>
          <p:nvPr/>
        </p:nvSpPr>
        <p:spPr>
          <a:xfrm>
            <a:off x="4972781" y="2633574"/>
            <a:ext cx="3582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Стабилограф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медицинский прибор, измеряющий координаты центра давления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DA4847-EEA2-2938-6B80-429F8768A526}"/>
              </a:ext>
            </a:extLst>
          </p:cNvPr>
          <p:cNvSpPr txBox="1"/>
          <p:nvPr/>
        </p:nvSpPr>
        <p:spPr>
          <a:xfrm>
            <a:off x="340058" y="406002"/>
            <a:ext cx="465661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	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наблюдается рост патологий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опорно-двигательной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неврологических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заболеваний по следующим причинам:</a:t>
            </a:r>
          </a:p>
          <a:p>
            <a:pPr marL="285750" indent="-285750">
              <a:buFontTx/>
              <a:buChar char="-"/>
            </a:pP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Сидячий образ жизни</a:t>
            </a:r>
          </a:p>
          <a:p>
            <a:pPr marL="285750" indent="-285750">
              <a:buFontTx/>
              <a:buChar char="-"/>
            </a:pP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средней продолжительности жизни</a:t>
            </a:r>
          </a:p>
          <a:p>
            <a:pPr marL="285750" indent="-285750">
              <a:buFontTx/>
              <a:buChar char="-"/>
            </a:pP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Неправильное питание</a:t>
            </a:r>
          </a:p>
          <a:p>
            <a:pPr marL="285750" indent="-285750">
              <a:buFontTx/>
              <a:buChar char="-"/>
            </a:pP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уровня ежедневного стресса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C1A4DB-FFD5-8A00-19A1-2AD9DE6F5962}"/>
              </a:ext>
            </a:extLst>
          </p:cNvPr>
          <p:cNvSpPr txBox="1"/>
          <p:nvPr/>
        </p:nvSpPr>
        <p:spPr>
          <a:xfrm>
            <a:off x="364052" y="2265304"/>
            <a:ext cx="4444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диагностики –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стабилометрическая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платформа (</a:t>
            </a:r>
            <a:r>
              <a:rPr lang="ru-RU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стабилограф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sz="16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B4DE5C-B762-E241-F14D-3568C378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989" y="2816917"/>
            <a:ext cx="609786" cy="273844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2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2FE4F2F-A9B3-4A10-FFD9-6883997486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55" r="8498"/>
          <a:stretch>
            <a:fillRect/>
          </a:stretch>
        </p:blipFill>
        <p:spPr>
          <a:xfrm>
            <a:off x="4996674" y="3122980"/>
            <a:ext cx="3110521" cy="104828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FDEAC41-A948-2E73-6C19-F0680E3EDA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033" r="7565"/>
          <a:stretch>
            <a:fillRect/>
          </a:stretch>
        </p:blipFill>
        <p:spPr>
          <a:xfrm>
            <a:off x="4986100" y="4085778"/>
            <a:ext cx="3194266" cy="1057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60FDA8-3683-EED2-F403-234A712B70BB}"/>
                  </a:ext>
                </a:extLst>
              </p:cNvPr>
              <p:cNvSpPr txBox="1"/>
              <p:nvPr/>
            </p:nvSpPr>
            <p:spPr>
              <a:xfrm rot="16200000">
                <a:off x="4679146" y="3402461"/>
                <a:ext cx="4887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60FDA8-3683-EED2-F403-234A712B7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79146" y="3402461"/>
                <a:ext cx="488713" cy="276999"/>
              </a:xfrm>
              <a:prstGeom prst="rect">
                <a:avLst/>
              </a:prstGeom>
              <a:blipFill>
                <a:blip r:embed="rId13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27753F-C422-C86C-B1A1-ACBED5469BF4}"/>
                  </a:ext>
                </a:extLst>
              </p:cNvPr>
              <p:cNvSpPr txBox="1"/>
              <p:nvPr/>
            </p:nvSpPr>
            <p:spPr>
              <a:xfrm rot="16200000">
                <a:off x="4680839" y="4362106"/>
                <a:ext cx="53331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27753F-C422-C86C-B1A1-ACBED5469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80839" y="4362106"/>
                <a:ext cx="533315" cy="276999"/>
              </a:xfrm>
              <a:prstGeom prst="rect">
                <a:avLst/>
              </a:prstGeom>
              <a:blipFill>
                <a:blip r:embed="rId14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602BD2-F3D2-FD66-4978-250D0DC7B168}"/>
                  </a:ext>
                </a:extLst>
              </p:cNvPr>
              <p:cNvSpPr txBox="1"/>
              <p:nvPr/>
            </p:nvSpPr>
            <p:spPr>
              <a:xfrm>
                <a:off x="340058" y="2714687"/>
                <a:ext cx="4572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 со </a:t>
                </a:r>
                <a:r>
                  <a:rPr lang="ru-RU" sz="15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стабилографа</a:t>
                </a:r>
                <a:r>
                  <a:rPr lang="ru-RU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ru-RU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дискретное отображение 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5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отрезок времени в секундах, </a:t>
                </a:r>
                <a14:m>
                  <m:oMath xmlns:m="http://schemas.openxmlformats.org/officeDocument/2006/math">
                    <m:r>
                      <a:rPr lang="ru-RU" sz="15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5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множество координат центра давления в миллиметрах.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602BD2-F3D2-FD66-4978-250D0DC7B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58" y="2714687"/>
                <a:ext cx="4572000" cy="1015663"/>
              </a:xfrm>
              <a:prstGeom prst="rect">
                <a:avLst/>
              </a:prstGeom>
              <a:blipFill>
                <a:blip r:embed="rId15"/>
                <a:stretch>
                  <a:fillRect l="-533" t="-1198" b="-5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49B1291-C816-4657-39A9-A257F19277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3648" y="3592615"/>
            <a:ext cx="2070634" cy="15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4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41CE-5A3C-6623-9378-67C65BCB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E18EDC8-2B21-05E8-990B-47FA12E9BA9C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5A66D0-DFE8-B8FD-FB99-23F6BFA897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2FC4953-3399-30F4-5F99-A26F8B94FBF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506AE-2C4C-739A-5F3B-AC65D44931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0B9F5-B8DC-8F8B-3AFB-881A0B792AF2}"/>
              </a:ext>
            </a:extLst>
          </p:cNvPr>
          <p:cNvSpPr txBox="1"/>
          <p:nvPr/>
        </p:nvSpPr>
        <p:spPr>
          <a:xfrm>
            <a:off x="3362097" y="0"/>
            <a:ext cx="2020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Фурье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32784-6A74-D75B-4C99-D38D84BCB8A7}"/>
              </a:ext>
            </a:extLst>
          </p:cNvPr>
          <p:cNvSpPr txBox="1"/>
          <p:nvPr/>
        </p:nvSpPr>
        <p:spPr>
          <a:xfrm>
            <a:off x="151391" y="461665"/>
            <a:ext cx="8165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	- математический инструмент разложения сигнала на частотно-амплитудный спектр. Применяется в том числе для обработки и дальнейшего исследования </a:t>
            </a:r>
            <a:r>
              <a:rPr lang="ru-RU" sz="1600" dirty="0" err="1"/>
              <a:t>стабилометрических</a:t>
            </a:r>
            <a:r>
              <a:rPr lang="ru-RU" sz="1600" dirty="0"/>
              <a:t> сигналов. 	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A1BF7C8-8045-FC18-0237-D478C6FFED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55" r="8498" b="6826"/>
          <a:stretch>
            <a:fillRect/>
          </a:stretch>
        </p:blipFill>
        <p:spPr>
          <a:xfrm>
            <a:off x="1259631" y="1192029"/>
            <a:ext cx="5616626" cy="176367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EAB57B1-7E32-FA77-F665-13C7FDFD1B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033" r="7565" b="7773"/>
          <a:stretch>
            <a:fillRect/>
          </a:stretch>
        </p:blipFill>
        <p:spPr>
          <a:xfrm>
            <a:off x="1259631" y="3058097"/>
            <a:ext cx="5764836" cy="1760547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8C61948-5C41-B08B-4775-11E85879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1805" y="1948480"/>
            <a:ext cx="515016" cy="273844"/>
          </a:xfrm>
        </p:spPr>
        <p:txBody>
          <a:bodyPr/>
          <a:lstStyle/>
          <a:p>
            <a:endParaRPr lang="ru-RU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878FC2-9182-9A26-007F-3F6B804903A8}"/>
                  </a:ext>
                </a:extLst>
              </p:cNvPr>
              <p:cNvSpPr txBox="1"/>
              <p:nvPr/>
            </p:nvSpPr>
            <p:spPr>
              <a:xfrm rot="16200000">
                <a:off x="842775" y="1900736"/>
                <a:ext cx="659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878FC2-9182-9A26-007F-3F6B80490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2775" y="1900736"/>
                <a:ext cx="659155" cy="369332"/>
              </a:xfrm>
              <a:prstGeom prst="rect">
                <a:avLst/>
              </a:prstGeom>
              <a:blipFill>
                <a:blip r:embed="rId7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6823F4-2482-C45C-461F-68FEFD16732B}"/>
                  </a:ext>
                </a:extLst>
              </p:cNvPr>
              <p:cNvSpPr txBox="1"/>
              <p:nvPr/>
            </p:nvSpPr>
            <p:spPr>
              <a:xfrm rot="16200000">
                <a:off x="916764" y="3637105"/>
                <a:ext cx="5111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6823F4-2482-C45C-461F-68FEFD167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6764" y="3637105"/>
                <a:ext cx="511178" cy="369332"/>
              </a:xfrm>
              <a:prstGeom prst="rect">
                <a:avLst/>
              </a:prstGeom>
              <a:blipFill>
                <a:blip r:embed="rId8"/>
                <a:stretch>
                  <a:fillRect t="-22619" r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405044B-34AC-2D10-DAE9-63D1CB3234C4}"/>
              </a:ext>
            </a:extLst>
          </p:cNvPr>
          <p:cNvSpPr txBox="1"/>
          <p:nvPr/>
        </p:nvSpPr>
        <p:spPr>
          <a:xfrm>
            <a:off x="3748834" y="471381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72F78ED-E625-0C51-05FF-D53951364F67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A4B1066-FC56-4350-696F-3F9EE11B3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AF82D41-AAB8-5A93-EBF0-FAF82B6A651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B03D752-506A-727E-94CB-48ED2CF51E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7B9FC84-ACD6-EB79-2C4A-6EAB49DD3AC8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3/20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56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C651-75FF-9BC3-9CB7-80146B52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E93303-F7AD-99FF-5476-103F2EA46D3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9B0651-EE4F-4900-A07F-96A6BFA9D0F0}" type="slidenum">
              <a:rPr kumimoji="0" lang="ru-RU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/20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ED2B5-9408-1F72-13FA-B98B7957C4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F161E7-07DC-ABE0-9977-C4E43557119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B28524-FC33-C5B3-0E23-0F5B751D76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B9A899-C783-3747-3EA2-90BC67DFD4A3}"/>
              </a:ext>
            </a:extLst>
          </p:cNvPr>
          <p:cNvSpPr txBox="1"/>
          <p:nvPr/>
        </p:nvSpPr>
        <p:spPr>
          <a:xfrm>
            <a:off x="1208886" y="0"/>
            <a:ext cx="632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Дискретный метод Фурье. Принцип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A1CA66-117A-0883-BD88-E3FFBD58FF7C}"/>
                  </a:ext>
                </a:extLst>
              </p:cNvPr>
              <p:cNvSpPr txBox="1"/>
              <p:nvPr/>
            </p:nvSpPr>
            <p:spPr>
              <a:xfrm>
                <a:off x="529435" y="1167475"/>
                <a:ext cx="6552727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p>
                          </m:s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A1CA66-117A-0883-BD88-E3FFBD58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35" y="1167475"/>
                <a:ext cx="6552727" cy="8714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CBA89D-E82B-EA57-E551-F02D954B09DC}"/>
                  </a:ext>
                </a:extLst>
              </p:cNvPr>
              <p:cNvSpPr txBox="1"/>
              <p:nvPr/>
            </p:nvSpPr>
            <p:spPr>
              <a:xfrm>
                <a:off x="467545" y="551922"/>
                <a:ext cx="756084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Дано: дискретный сигнал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acc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Дискретное преобразование Фурье представлено в формуле (1)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CBA89D-E82B-EA57-E551-F02D954B0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551922"/>
                <a:ext cx="7560840" cy="615553"/>
              </a:xfrm>
              <a:prstGeom prst="rect">
                <a:avLst/>
              </a:prstGeom>
              <a:blipFill>
                <a:blip r:embed="rId8"/>
                <a:stretch>
                  <a:fillRect l="-484" b="-118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C30D360-2EC6-D16E-62F1-6A8BC778FFC7}"/>
              </a:ext>
            </a:extLst>
          </p:cNvPr>
          <p:cNvSpPr txBox="1"/>
          <p:nvPr/>
        </p:nvSpPr>
        <p:spPr>
          <a:xfrm>
            <a:off x="7491446" y="141853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0514E0-D7AC-75D4-ED98-6F57005117C3}"/>
                  </a:ext>
                </a:extLst>
              </p:cNvPr>
              <p:cNvSpPr txBox="1"/>
              <p:nvPr/>
            </p:nvSpPr>
            <p:spPr>
              <a:xfrm>
                <a:off x="669289" y="1965173"/>
                <a:ext cx="7276127" cy="842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набор мгновенных амплитуд сигнала s(k)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набор соответствующих амплитудам частот.</a:t>
                </a: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0514E0-D7AC-75D4-ED98-6F570051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89" y="1965173"/>
                <a:ext cx="7276127" cy="842475"/>
              </a:xfrm>
              <a:prstGeom prst="rect">
                <a:avLst/>
              </a:prstGeom>
              <a:blipFill>
                <a:blip r:embed="rId9"/>
                <a:stretch>
                  <a:fillRect l="-503" t="-7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CCBA1E-9778-CFAA-1D31-B13A2077D36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421" b="8895"/>
          <a:stretch>
            <a:fillRect/>
          </a:stretch>
        </p:blipFill>
        <p:spPr>
          <a:xfrm>
            <a:off x="4572000" y="2479396"/>
            <a:ext cx="2664296" cy="210147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CBDA37-4351-0A40-011C-07194EB703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032" y="2397668"/>
            <a:ext cx="3399801" cy="21832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B551AA0-8715-7C1F-6CDE-71E43BDF3117}"/>
              </a:ext>
            </a:extLst>
          </p:cNvPr>
          <p:cNvSpPr txBox="1"/>
          <p:nvPr/>
        </p:nvSpPr>
        <p:spPr>
          <a:xfrm>
            <a:off x="1907704" y="4489277"/>
            <a:ext cx="1007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Частота, Гц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1FA4B-0299-4BDB-5A8B-173EA074D7F3}"/>
              </a:ext>
            </a:extLst>
          </p:cNvPr>
          <p:cNvSpPr txBox="1"/>
          <p:nvPr/>
        </p:nvSpPr>
        <p:spPr>
          <a:xfrm rot="16200000">
            <a:off x="-57844" y="3051218"/>
            <a:ext cx="1903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Амплитуда, мм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E8B156-B0C1-3A10-EF19-8E0E09C49984}"/>
              </a:ext>
            </a:extLst>
          </p:cNvPr>
          <p:cNvSpPr txBox="1"/>
          <p:nvPr/>
        </p:nvSpPr>
        <p:spPr>
          <a:xfrm>
            <a:off x="5474997" y="4518840"/>
            <a:ext cx="1061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Частота, Гц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D06B3E-D0F5-5991-CE06-1370C649FC37}"/>
              </a:ext>
            </a:extLst>
          </p:cNvPr>
          <p:cNvSpPr txBox="1"/>
          <p:nvPr/>
        </p:nvSpPr>
        <p:spPr>
          <a:xfrm rot="16200000">
            <a:off x="3796475" y="3432312"/>
            <a:ext cx="1253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Амплитуда, мм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9F6432-E9CB-CC8C-F813-181BFB2CC2C1}"/>
              </a:ext>
            </a:extLst>
          </p:cNvPr>
          <p:cNvSpPr txBox="1"/>
          <p:nvPr/>
        </p:nvSpPr>
        <p:spPr>
          <a:xfrm>
            <a:off x="894077" y="4641951"/>
            <a:ext cx="3163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Фурье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стационарного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721569-C71C-8558-96C9-598A37E7060D}"/>
              </a:ext>
            </a:extLst>
          </p:cNvPr>
          <p:cNvSpPr txBox="1"/>
          <p:nvPr/>
        </p:nvSpPr>
        <p:spPr>
          <a:xfrm>
            <a:off x="4467744" y="4706294"/>
            <a:ext cx="3782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Фурье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нестационарного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9D087F6-6BDA-E3CF-B8F5-2EB626457534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8CD63A2-BF5B-3961-115C-A4EC8EE5A3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1A9969-FDDE-D997-E9BF-D9F86FEAEFB2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6ED53EA-E0A6-FAD9-B32A-8C159B07D9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65A4DF27-060B-7028-21E8-D7114F43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989" y="2816917"/>
            <a:ext cx="609786" cy="27384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4/20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06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391B-5640-4740-FA8B-20CF647F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0C04602-0AFA-AD80-89A5-BD39B8A7FAC6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22EA54-5181-5F8F-4DE5-2E9C2F0CA1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701474E-7805-B266-29B9-41771F9EE23B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AAAE5A-2EC1-D569-5944-08C2070E78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98D894-C650-4C4D-8428-2BE0314B5639}"/>
              </a:ext>
            </a:extLst>
          </p:cNvPr>
          <p:cNvSpPr txBox="1"/>
          <p:nvPr/>
        </p:nvSpPr>
        <p:spPr>
          <a:xfrm>
            <a:off x="467545" y="326868"/>
            <a:ext cx="7560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 сигнал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одномерный временной ряд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i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Mode Decomposition</a:t>
            </a:r>
            <a:r>
              <a:rPr lang="ru-RU" i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разложения сигнала на «эмпирические моды». Первый шаг для получения неуточнённой моды представлен.</a:t>
            </a:r>
          </a:p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F450A-D424-23D8-FA64-4D4CFA366ADC}"/>
              </a:ext>
            </a:extLst>
          </p:cNvPr>
          <p:cNvSpPr txBox="1"/>
          <p:nvPr/>
        </p:nvSpPr>
        <p:spPr>
          <a:xfrm>
            <a:off x="1961965" y="-183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Гильберта-Хуанга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897546C-B58B-ABC0-B84A-4CFFD3E1CF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0"/>
          <a:stretch>
            <a:fillRect/>
          </a:stretch>
        </p:blipFill>
        <p:spPr>
          <a:xfrm>
            <a:off x="755576" y="1563638"/>
            <a:ext cx="6264696" cy="349570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6F96E7-C470-3D6C-2A77-059AD33B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2600" y="1546075"/>
            <a:ext cx="2133600" cy="27384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151C13-4ED4-D124-2D2D-A36AFF0BD205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05B26B-5803-D991-21F2-53FE32829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94FFCA-5121-DD8E-3DC5-C6DFE30C874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61FABC-DE62-89E5-31E8-B529C0DA4C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CFEBA9C3-7FEA-61CB-EB9F-DB7D015475C6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5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49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17C9-D64E-164C-1351-64844E91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7615B9-01F4-F6EE-4F2B-A1FE26FF4EDF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51EDF5-A93E-82F3-9B40-7524AE47FE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078C6C-CEE2-5149-9D36-72A988853E8D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188BAA-31B1-BD1D-AE0C-511F85A032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A90302-1E67-A58C-A12E-FFF177917F5F}"/>
                  </a:ext>
                </a:extLst>
              </p:cNvPr>
              <p:cNvSpPr txBox="1"/>
              <p:nvPr/>
            </p:nvSpPr>
            <p:spPr>
              <a:xfrm>
                <a:off x="617960" y="144331"/>
                <a:ext cx="7756819" cy="3856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 алгоритма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эмпирические моды,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r(t) –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остаток (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resudial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 2: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применение преобразования Гильберта для каждой эмпирической моды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nary>
                      <m:naryPr>
                        <m:limLoc m:val="undOvr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1≤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nary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Образование аналитического сигнала: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ru-RU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1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мгновенная амплитуда моды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̇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мгновенная частота эмпирической моды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A90302-1E67-A58C-A12E-FFF177917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60" y="144331"/>
                <a:ext cx="7756819" cy="3856505"/>
              </a:xfrm>
              <a:prstGeom prst="rect">
                <a:avLst/>
              </a:prstGeom>
              <a:blipFill>
                <a:blip r:embed="rId5"/>
                <a:stretch>
                  <a:fillRect l="-393" t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4CE5A0-D2F1-BAE5-6448-8F4CC2DE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ECDB24-18FB-5E49-C55D-CA8CE0F803A0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50FC1A-BDFD-16E6-0156-466447E7AF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FD2755-DDC4-C953-3442-46AEBCAB8A69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24E263-CC82-EAD1-F716-2FCFBF79D1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D0CFC0A0-31CE-6EB1-0FD8-B7095889CCA3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6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01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6E62-55EE-A78A-A22A-20BF21DA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748B78-5B5F-F740-49A3-71F5798E8EFB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492ED5-3874-6370-82F9-990AB220EB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4E57CE-8739-6A12-8B10-35BC42D353B2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68F573-CFD4-A012-B825-644F4473A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1A3E5E-A6BE-8214-EB70-134927514298}"/>
              </a:ext>
            </a:extLst>
          </p:cNvPr>
          <p:cNvSpPr txBox="1"/>
          <p:nvPr/>
        </p:nvSpPr>
        <p:spPr>
          <a:xfrm>
            <a:off x="323528" y="154433"/>
            <a:ext cx="77568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Гильберта-Хуанга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отличие от спектра Фурье, представляется в частотно-амплитудно-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пространстве. Соответственно, результаты спектра удобны для исследования мгновенных характеристик сигналов. 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29749-3CAE-F4A3-1150-8F73AD76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C6533E-E9B2-5472-42E8-F6DDE79E2C7B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A192CA-C118-E72D-CACF-9550C84D02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1B8075-B721-BD79-E9BF-03379FD600A6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1B65F9C-15CA-561D-422E-F1334A17D1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37D61645-E430-E857-C442-6363981938E4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7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7BF206-F7E5-B581-1D8F-EA2633FA09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20" t="7584" r="13508" b="5555"/>
          <a:stretch>
            <a:fillRect/>
          </a:stretch>
        </p:blipFill>
        <p:spPr>
          <a:xfrm>
            <a:off x="625591" y="1203597"/>
            <a:ext cx="6394681" cy="33775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5C0610-2E64-3863-17BC-6FFBD6354E89}"/>
              </a:ext>
            </a:extLst>
          </p:cNvPr>
          <p:cNvSpPr txBox="1"/>
          <p:nvPr/>
        </p:nvSpPr>
        <p:spPr>
          <a:xfrm>
            <a:off x="5004048" y="4304856"/>
            <a:ext cx="1247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Частота, Гц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A72DC0-9F5A-A4CD-C201-B4025C6DC714}"/>
              </a:ext>
            </a:extLst>
          </p:cNvPr>
          <p:cNvSpPr txBox="1"/>
          <p:nvPr/>
        </p:nvSpPr>
        <p:spPr>
          <a:xfrm>
            <a:off x="1835696" y="4304856"/>
            <a:ext cx="12413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Время, сек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0BD19E-FEBB-3450-13A8-8DE3271BD4C5}"/>
              </a:ext>
            </a:extLst>
          </p:cNvPr>
          <p:cNvSpPr txBox="1"/>
          <p:nvPr/>
        </p:nvSpPr>
        <p:spPr>
          <a:xfrm rot="16200000">
            <a:off x="-708268" y="2496807"/>
            <a:ext cx="26677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Квадрат амплитуды, мм</a:t>
            </a:r>
            <a:r>
              <a:rPr lang="ru-RU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1380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6F3F-100A-C663-8900-AF91CDF4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5E51ABF-5265-5FBC-01D2-9930012479E1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D1596F-58A5-1B1F-9E1C-5F7741F82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97D611A-624F-6CAE-CA82-68806E2D08D4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556334-1BCB-0C9E-AE1B-6A85E73FE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54BDBE-2D93-4447-95ED-9C7EB1D48145}"/>
              </a:ext>
            </a:extLst>
          </p:cNvPr>
          <p:cNvSpPr txBox="1"/>
          <p:nvPr/>
        </p:nvSpPr>
        <p:spPr>
          <a:xfrm>
            <a:off x="251520" y="166340"/>
            <a:ext cx="79928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метода анализа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стабилографического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сигнала на основе спектра Гильберта-Хуанга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Поставленные задачи: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эмпирических мод сигнала от изменений амплитудно-частотных характеристик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метода выявления интервалов аномальных амплитуд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 экспериментальных данных и подбор метрики для этого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258CED-B354-0D3E-DA55-F66C7BCF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8584" y="2315036"/>
            <a:ext cx="2133600" cy="273844"/>
          </a:xfrm>
        </p:spPr>
        <p:txBody>
          <a:bodyPr/>
          <a:lstStyle/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7A8EB3-52B2-AA9B-8043-7E9E5E12C0A4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C0DE1B-8616-5FAE-11D2-DFCCE85E99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2647355-B147-1F23-3A76-73F3842776A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513C8B-E9FB-62D0-7EDC-733BFCC9BA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1BB62A1F-D415-0831-244F-73B658112AD1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8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54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721B-2A09-84B7-16DD-235A7959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68E8D5-3486-89BA-2A49-181145D3E4A6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8E8BBE-7D8D-5E69-491F-DCBF051F75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7BABF1-5F49-0209-E889-32A9F0DD6EE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0CD2406-C194-1AFD-EEDE-644A2995B3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6CFD3-B1D3-B506-B648-9D08F014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AF18D8-0517-5309-CA02-4A888E0D023F}"/>
              </a:ext>
            </a:extLst>
          </p:cNvPr>
          <p:cNvSpPr txBox="1"/>
          <p:nvPr/>
        </p:nvSpPr>
        <p:spPr>
          <a:xfrm>
            <a:off x="395536" y="102393"/>
            <a:ext cx="792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эмпирических мод сигнала от изменений его амплитудно-частотных характеристик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EDFFB-9966-9E1D-E157-13F31DEC6463}"/>
              </a:ext>
            </a:extLst>
          </p:cNvPr>
          <p:cNvSpPr txBox="1"/>
          <p:nvPr/>
        </p:nvSpPr>
        <p:spPr>
          <a:xfrm>
            <a:off x="395536" y="701830"/>
            <a:ext cx="79208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Эмпирические моды зависят от огибающих сигнала (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кубических сплайнов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построенных по точкам локального максимума и минимума.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352050-4B61-8D0C-9696-ACDAAB29D118}"/>
                  </a:ext>
                </a:extLst>
              </p:cNvPr>
              <p:cNvSpPr txBox="1"/>
              <p:nvPr/>
            </p:nvSpPr>
            <p:spPr>
              <a:xfrm>
                <a:off x="395535" y="1212229"/>
                <a:ext cx="8080663" cy="1352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задачи: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 сигнал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g(t) –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кубический сплайн, проведённый по точкам локального максимума сигнала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)=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 [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точки локального максимума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s(t)</a:t>
                </a: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352050-4B61-8D0C-9696-ACDAAB29D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1212229"/>
                <a:ext cx="8080663" cy="1352486"/>
              </a:xfrm>
              <a:prstGeom prst="rect">
                <a:avLst/>
              </a:prstGeom>
              <a:blipFill>
                <a:blip r:embed="rId5"/>
                <a:stretch>
                  <a:fillRect l="-453" t="-1351" b="-4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3030C17-7C85-9A44-6A94-161FA6858461}"/>
              </a:ext>
            </a:extLst>
          </p:cNvPr>
          <p:cNvSpPr txBox="1"/>
          <p:nvPr/>
        </p:nvSpPr>
        <p:spPr>
          <a:xfrm>
            <a:off x="395534" y="2400782"/>
            <a:ext cx="4572000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Введём обозначения: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442680-20AA-FE04-EB9B-4ECCDE2D6F84}"/>
                  </a:ext>
                </a:extLst>
              </p:cNvPr>
              <p:cNvSpPr txBox="1"/>
              <p:nvPr/>
            </p:nvSpPr>
            <p:spPr>
              <a:xfrm>
                <a:off x="417897" y="2752157"/>
                <a:ext cx="4298119" cy="1355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1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600" b="1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kumimoji="0" lang="en-US" sz="16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sz="16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ru-RU" sz="16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зависит</a:t>
                </a:r>
                <a:r>
                  <a:rPr kumimoji="0" lang="ru-RU" sz="1600" b="0" i="0" u="none" strike="noStrike" kern="1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от </a:t>
                </a:r>
                <a:r>
                  <a:rPr kumimoji="0" lang="ru-RU" sz="1600" b="1" i="1" u="none" strike="noStrike" kern="1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частоты</a:t>
                </a:r>
                <a:endParaRPr kumimoji="0" lang="en-US" sz="1600" b="1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1600" b="1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600" b="1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kumimoji="0" lang="en-US" sz="1600" b="1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kumimoji="0" lang="en-US" sz="16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sz="16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𝑠</m:t>
                    </m:r>
                    <m:d>
                      <m:dPr>
                        <m:ctrlPr>
                          <a:rPr kumimoji="0" lang="en-US" sz="16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600" b="0" i="1" u="none" strike="noStrike" kern="1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600" b="0" i="1" u="none" strike="noStrike" kern="1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sz="1600" b="0" i="1" u="none" strike="noStrike" kern="1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sz="16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0" lang="en-US" sz="16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𝑠</m:t>
                    </m:r>
                    <m:d>
                      <m:dPr>
                        <m:ctrlPr>
                          <a:rPr kumimoji="0" lang="en-US" sz="16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6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6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sz="16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kumimoji="0" lang="en-US" sz="1600" b="0" i="1" u="none" strike="noStrike" kern="1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ru-RU" sz="16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- зависит от </a:t>
                </a:r>
                <a:r>
                  <a:rPr kumimoji="0" lang="ru-RU" sz="1600" b="1" i="1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амплитуды</a:t>
                </a:r>
                <a:endParaRPr kumimoji="0" lang="en-US" sz="1600" b="1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0" lang="en-US" sz="16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  <m:r>
                        <a:rPr kumimoji="0" lang="en-US" sz="1600" b="0" i="1" u="none" strike="noStrike" kern="1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16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ru-RU" sz="16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442680-20AA-FE04-EB9B-4ECCDE2D6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7" y="2752157"/>
                <a:ext cx="4298119" cy="1355820"/>
              </a:xfrm>
              <a:prstGeom prst="rect">
                <a:avLst/>
              </a:prstGeom>
              <a:blipFill>
                <a:blip r:embed="rId6"/>
                <a:stretch>
                  <a:fillRect t="-13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11B20CB-0176-5E04-914C-B1FCD0D56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501" y="2250434"/>
            <a:ext cx="2941320" cy="2720340"/>
          </a:xfrm>
          <a:prstGeom prst="rect">
            <a:avLst/>
          </a:prstGeom>
        </p:spPr>
      </p:pic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B13D43F1-FA5A-D006-7D25-6D2EF29B66D8}"/>
              </a:ext>
            </a:extLst>
          </p:cNvPr>
          <p:cNvCxnSpPr>
            <a:cxnSpLocks/>
          </p:cNvCxnSpPr>
          <p:nvPr/>
        </p:nvCxnSpPr>
        <p:spPr>
          <a:xfrm>
            <a:off x="5940152" y="2553826"/>
            <a:ext cx="11107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FED1E1C0-A8A7-E0B2-B067-F9F35BCB2403}"/>
              </a:ext>
            </a:extLst>
          </p:cNvPr>
          <p:cNvCxnSpPr/>
          <p:nvPr/>
        </p:nvCxnSpPr>
        <p:spPr>
          <a:xfrm flipV="1">
            <a:off x="7050945" y="2557073"/>
            <a:ext cx="0" cy="518733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F68E257-D893-00E9-563B-7B868F3BA2EA}"/>
                  </a:ext>
                </a:extLst>
              </p:cNvPr>
              <p:cNvSpPr txBox="1"/>
              <p:nvPr/>
            </p:nvSpPr>
            <p:spPr>
              <a:xfrm>
                <a:off x="6343148" y="2226575"/>
                <a:ext cx="3170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ru-RU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kumimoji="0" lang="en-US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F68E257-D893-00E9-563B-7B868F3BA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148" y="2226575"/>
                <a:ext cx="317084" cy="369332"/>
              </a:xfrm>
              <a:prstGeom prst="rect">
                <a:avLst/>
              </a:prstGeom>
              <a:blipFill>
                <a:blip r:embed="rId8"/>
                <a:stretch>
                  <a:fillRect r="-2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A214F34-D794-99FB-7A56-B2A67C22F617}"/>
                  </a:ext>
                </a:extLst>
              </p:cNvPr>
              <p:cNvSpPr txBox="1"/>
              <p:nvPr/>
            </p:nvSpPr>
            <p:spPr>
              <a:xfrm>
                <a:off x="7021016" y="2606144"/>
                <a:ext cx="413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ru-RU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kumimoji="0" lang="en-US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A214F34-D794-99FB-7A56-B2A67C22F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016" y="2606144"/>
                <a:ext cx="413792" cy="369332"/>
              </a:xfrm>
              <a:prstGeom prst="rect">
                <a:avLst/>
              </a:prstGeom>
              <a:blipFill>
                <a:blip r:embed="rId9"/>
                <a:stretch>
                  <a:fillRect r="-5882"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5E6340-45B9-0310-4406-EE978AA448D4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22A342-0E3C-9146-28F0-6B20EE7901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E8CE0D-FBF7-65DA-3850-8AA78A29DB16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CD2319-7D28-82DA-9A43-BA69086BBF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FAF74A7B-779A-1B9C-CDDB-251B77B0AC8A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9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18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309E-70B6-EB11-0865-C90ACCB1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D1D108-2C6F-8F52-CCDB-C53283056729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EC0B75-5A1D-FFAA-5075-2BFE56CDC0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393024-6C44-BF27-9CCD-038DF5B04E7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380EBA-A5B4-EA20-8511-65BBD5CD49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ECF39F-8BB6-8F63-A1F1-E2ED7B3865B5}"/>
                  </a:ext>
                </a:extLst>
              </p:cNvPr>
              <p:cNvSpPr txBox="1"/>
              <p:nvPr/>
            </p:nvSpPr>
            <p:spPr>
              <a:xfrm>
                <a:off x="74188" y="63118"/>
                <a:ext cx="6226004" cy="2780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ru-RU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Условия</a:t>
                </a:r>
                <a:r>
                  <a:rPr lang="ru-RU" sz="1600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наложенные на кубический </a:t>
                </a:r>
                <a:r>
                  <a:rPr lang="ru-RU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сплайн: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d>
                      <m:dPr>
                        <m:ctrlP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</m:t>
                    </m:r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sz="16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acc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acc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ru-RU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6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acc>
                  </m:oMath>
                </a14:m>
                <a:endParaRPr lang="en-US" sz="16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16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ru-RU" sz="1600" b="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ECF39F-8BB6-8F63-A1F1-E2ED7B386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8" y="63118"/>
                <a:ext cx="6226004" cy="2780633"/>
              </a:xfrm>
              <a:prstGeom prst="rect">
                <a:avLst/>
              </a:prstGeom>
              <a:blipFill>
                <a:blip r:embed="rId5"/>
                <a:stretch>
                  <a:fillRect l="-392" b="-1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3EAC30-4B28-3FDB-43B5-1B4B9D8B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ACE407-3435-08AA-F4D4-71917D3E06D3}"/>
                  </a:ext>
                </a:extLst>
              </p:cNvPr>
              <p:cNvSpPr txBox="1"/>
              <p:nvPr/>
            </p:nvSpPr>
            <p:spPr>
              <a:xfrm>
                <a:off x="74187" y="2816917"/>
                <a:ext cx="8393617" cy="2063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 преобразований условий на сплайн получаем задачу на нахождение 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коэффициентов сплайна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краевая разностная задача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2го порядка 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переменными коэффициентами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+2∙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=3∙[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     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(1)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Граничные условия: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         (2)</a:t>
                </a:r>
              </a:p>
              <a:p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−5∙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3∙[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dirty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(3)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ACE407-3435-08AA-F4D4-71917D3E0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7" y="2816917"/>
                <a:ext cx="8393617" cy="2063001"/>
              </a:xfrm>
              <a:prstGeom prst="rect">
                <a:avLst/>
              </a:prstGeom>
              <a:blipFill>
                <a:blip r:embed="rId6"/>
                <a:stretch>
                  <a:fillRect l="-363" t="-885" b="-2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C7BC27E-8F67-2363-A335-72E7D70E735F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8E0DE8-A929-0869-BC1D-761AAE341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C62B1F-A395-DD99-E392-626BC32814CF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DBDEA9-6E4F-0BC0-3888-001C16013C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5CC26098-D974-5637-EE74-A5A7F709511B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10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80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8B02-D325-A46C-B140-40B1009E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EA22892-68AD-3989-F038-88921B0A5FD6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80CB94-5270-5717-EA16-0C0470FEFE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71410C8-DB36-797A-4D40-7F8095B6C18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9241C95-4E39-339B-F8B5-1DAC876EF9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8469EB-CA38-2406-C037-7840A7B7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397D39-CD5D-0EED-59FC-58EEA35483ED}"/>
                  </a:ext>
                </a:extLst>
              </p:cNvPr>
              <p:cNvSpPr txBox="1"/>
              <p:nvPr/>
            </p:nvSpPr>
            <p:spPr>
              <a:xfrm>
                <a:off x="212985" y="102393"/>
                <a:ext cx="8181471" cy="4886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Результаты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решения: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где: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=0;</m:t>
                          </m:r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=1; </m:t>
                          </m:r>
                          <m:r>
                            <a:rPr lang="ru-RU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2+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ru-R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=1; </m:t>
                        </m:r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2+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l-GR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3∙[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где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{"/>
                        <m:endChr m:val="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     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    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=0, </a:t>
                </a:r>
                <a:r>
                  <a:rPr lang="ru-RU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imes New Roman" panose="020206030504050203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+5∙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397D39-CD5D-0EED-59FC-58EEA3548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5" y="102393"/>
                <a:ext cx="8181471" cy="4886081"/>
              </a:xfrm>
              <a:prstGeom prst="rect">
                <a:avLst/>
              </a:prstGeom>
              <a:blipFill>
                <a:blip r:embed="rId5"/>
                <a:stretch>
                  <a:fillRect l="-671" t="-7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BC0AF74-EE04-4D91-5358-5ECCC1E10D72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244C5B-1101-2FEA-FBF0-1F299781A5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D1B7C4-8621-C812-8D74-A822A3D0E01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A0FC6C-C42A-380A-11A6-86AC00C49A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3E5017D9-7BC1-CA78-12F0-F4334D23FDEC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1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925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20EE8-7417-D6F8-B630-D89F1560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2904D8-923F-4561-8923-6FF1E1F3DD84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D9C6E9-D1E0-3316-AD25-4EEAA2379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22417B-85E4-EFC6-9187-EE94A7BF4686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52280A-CA33-3FFE-E4D1-CF47CC0E22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5024E5-8332-D125-7316-1BEE424FB79B}"/>
                  </a:ext>
                </a:extLst>
              </p:cNvPr>
              <p:cNvSpPr txBox="1"/>
              <p:nvPr/>
            </p:nvSpPr>
            <p:spPr>
              <a:xfrm>
                <a:off x="187466" y="144134"/>
                <a:ext cx="8127292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Получаем 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решение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краевой задачи:</a:t>
                </a:r>
              </a:p>
              <a:p>
                <a:b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здесь были найдены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как функции от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можно заключить, что: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различные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входят в коэффициенты сплайна всегда линейно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зависимость с(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от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различных 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нелинейна.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Ввиду прямой корреляции значений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от значений мгновенных амплитуд сигнала, можно утверждать, что огибающие, построенные по точкам максимума (минимума), устойчивы относительно изменений амплитуд исходного сигнала</a:t>
                </a:r>
                <a:r>
                  <a:rPr lang="ru-RU" dirty="0"/>
                  <a:t>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Нелинейный вклад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значения коэффициентов с(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требует отдельного исследования.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ru-RU" dirty="0"/>
              </a:p>
              <a:p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5024E5-8332-D125-7316-1BEE424FB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66" y="144134"/>
                <a:ext cx="8127292" cy="4893647"/>
              </a:xfrm>
              <a:prstGeom prst="rect">
                <a:avLst/>
              </a:prstGeom>
              <a:blipFill>
                <a:blip r:embed="rId5"/>
                <a:stretch>
                  <a:fillRect l="-450" t="-3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E55F32-604E-8AFF-51E4-A5FD7CA1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627A674-1F43-A1CD-934E-547F522F79A5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767D71-0502-1D9A-9E7C-39382D608D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1DAE5E-1B48-F0B5-EB9D-B37835EAE3F9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490347-7029-389E-5979-CDBDE711CC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8D95ED-8342-F8F5-E5D8-74D9AE58C96F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2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128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3ECD-4280-1351-3460-F08B7E3B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24B6915-7F13-570E-2697-82D20D6AF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797" r="93281">
                        <a14:foregroundMark x1="9531" y1="43828" x2="6797" y2="52891"/>
                        <a14:foregroundMark x1="6797" y1="52891" x2="14297" y2="56328"/>
                        <a14:foregroundMark x1="90469" y1="43672" x2="91250" y2="58203"/>
                        <a14:foregroundMark x1="91250" y1="58203" x2="90469" y2="46953"/>
                        <a14:foregroundMark x1="90469" y1="46953" x2="93281" y2="56250"/>
                        <a14:foregroundMark x1="93281" y1="56250" x2="92891" y2="48594"/>
                        <a14:foregroundMark x1="84453" y1="64766" x2="91406" y2="59219"/>
                        <a14:backgroundMark x1="88281" y1="63828" x2="92188" y2="59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2016" y="3222080"/>
            <a:ext cx="789830" cy="78983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07BC4C-B103-F136-0FC2-FE929D8412D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508131-D29E-A11F-C095-A5DF43DD64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AA8898-FC5C-56AB-596E-3C8BAC0CDD68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E54E925-0F07-4E05-AFFF-5024AB7538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65491E-08D1-2661-4832-A87164F74493}"/>
              </a:ext>
            </a:extLst>
          </p:cNvPr>
          <p:cNvSpPr txBox="1"/>
          <p:nvPr/>
        </p:nvSpPr>
        <p:spPr>
          <a:xfrm>
            <a:off x="12270" y="0"/>
            <a:ext cx="826806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Стабилография как метод исследования,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используемый для оценки равновесия и баланса тела, основан на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измерении координат центра давления (ЦД) человека в плоскости опоры. 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Система стабилографии Балфит® Купить в Москве | Неврокор">
            <a:extLst>
              <a:ext uri="{FF2B5EF4-FFF2-40B4-BE49-F238E27FC236}">
                <a16:creationId xmlns:a16="http://schemas.microsoft.com/office/drawing/2014/main" id="{D19B6CF1-471B-63F8-731A-02F019B9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" y="1016223"/>
            <a:ext cx="3443559" cy="376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C2DC62-2E7E-8FD0-3FC2-253570E692E5}"/>
              </a:ext>
            </a:extLst>
          </p:cNvPr>
          <p:cNvSpPr txBox="1"/>
          <p:nvPr/>
        </p:nvSpPr>
        <p:spPr>
          <a:xfrm>
            <a:off x="3044333" y="961660"/>
            <a:ext cx="4885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Испытания проводились для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испытуемых. 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EC343E3F-6B61-C94C-9C9B-3EA916E8A67D}"/>
                  </a:ext>
                </a:extLst>
              </p14:cNvPr>
              <p14:cNvContentPartPr/>
              <p14:nvPr/>
            </p14:nvContentPartPr>
            <p14:xfrm>
              <a:off x="579009" y="310011"/>
              <a:ext cx="360" cy="3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EC343E3F-6B61-C94C-9C9B-3EA916E8A6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2889" y="30389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07D00C95-7981-CE9C-C0AA-D69026F4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E0AFD15-CA24-A474-24CA-550BE7EC5D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896" b="89410" l="10938" r="37402">
                        <a14:foregroundMark x1="12598" y1="37847" x2="10938" y2="48958"/>
                        <a14:foregroundMark x1="10938" y1="48958" x2="10938" y2="58160"/>
                        <a14:foregroundMark x1="10938" y1="58160" x2="12988" y2="65799"/>
                        <a14:backgroundMark x1="17383" y1="73438" x2="23438" y2="76736"/>
                        <a14:backgroundMark x1="23438" y1="76736" x2="28711" y2="74479"/>
                        <a14:backgroundMark x1="28711" y1="74479" x2="29102" y2="73958"/>
                      </a14:backgroundRemoval>
                    </a14:imgEffect>
                  </a14:imgLayer>
                </a14:imgProps>
              </a:ext>
            </a:extLst>
          </a:blip>
          <a:srcRect l="9838" t="25367" r="59450" b="23011"/>
          <a:stretch>
            <a:fillRect/>
          </a:stretch>
        </p:blipFill>
        <p:spPr>
          <a:xfrm>
            <a:off x="3164198" y="1347614"/>
            <a:ext cx="685464" cy="6480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4C29373-BE4D-2286-9AB0-B685C359FE1C}"/>
              </a:ext>
            </a:extLst>
          </p:cNvPr>
          <p:cNvSpPr txBox="1"/>
          <p:nvPr/>
        </p:nvSpPr>
        <p:spPr>
          <a:xfrm>
            <a:off x="3758671" y="1490029"/>
            <a:ext cx="4581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 открытыми глазами</a:t>
            </a:r>
            <a:endParaRPr lang="ru-RU" sz="16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12A544C-6B97-27E8-D2B2-3B003B7150C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4422" t="22732" r="36893" b="21172"/>
          <a:stretch>
            <a:fillRect/>
          </a:stretch>
        </p:blipFill>
        <p:spPr>
          <a:xfrm>
            <a:off x="3169514" y="2039504"/>
            <a:ext cx="589157" cy="6480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A3D0576-8AD8-D61C-13CB-B697C81B8C49}"/>
              </a:ext>
            </a:extLst>
          </p:cNvPr>
          <p:cNvSpPr txBox="1"/>
          <p:nvPr/>
        </p:nvSpPr>
        <p:spPr>
          <a:xfrm>
            <a:off x="3767262" y="2195050"/>
            <a:ext cx="4581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 закрытыми глазами</a:t>
            </a:r>
            <a:endParaRPr lang="ru-RU" sz="16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AED0A65-AB90-D299-7932-FBEB69DEA1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5174" b="77778" l="64453" r="96094">
                        <a14:foregroundMark x1="63477" y1="43056" x2="63672" y2="53125"/>
                        <a14:foregroundMark x1="63672" y1="53125" x2="62988" y2="43750"/>
                        <a14:foregroundMark x1="62988" y1="43750" x2="68359" y2="39931"/>
                        <a14:foregroundMark x1="68359" y1="39931" x2="68848" y2="51910"/>
                        <a14:foregroundMark x1="68848" y1="51910" x2="70996" y2="42708"/>
                        <a14:foregroundMark x1="70996" y1="42708" x2="75586" y2="47917"/>
                        <a14:foregroundMark x1="75586" y1="47917" x2="78516" y2="36111"/>
                        <a14:foregroundMark x1="78516" y1="36111" x2="84766" y2="52431"/>
                        <a14:foregroundMark x1="84766" y1="52431" x2="87207" y2="40451"/>
                        <a14:foregroundMark x1="87207" y1="40451" x2="91309" y2="46701"/>
                        <a14:foregroundMark x1="91309" y1="46701" x2="87402" y2="65451"/>
                        <a14:foregroundMark x1="87402" y1="65451" x2="81738" y2="72049"/>
                        <a14:foregroundMark x1="81738" y1="72049" x2="84082" y2="62847"/>
                        <a14:foregroundMark x1="84082" y1="62847" x2="79919" y2="73232"/>
                        <a14:foregroundMark x1="78177" y1="74328" x2="78516" y2="66146"/>
                        <a14:foregroundMark x1="78516" y1="66146" x2="73535" y2="71528"/>
                        <a14:foregroundMark x1="73535" y1="71528" x2="65918" y2="53993"/>
                        <a14:foregroundMark x1="65918" y1="53993" x2="70020" y2="35764"/>
                        <a14:foregroundMark x1="70020" y1="35764" x2="75977" y2="31771"/>
                        <a14:foregroundMark x1="75977" y1="31771" x2="89063" y2="36632"/>
                        <a14:foregroundMark x1="89063" y1="36632" x2="91406" y2="43229"/>
                        <a14:foregroundMark x1="73535" y1="66493" x2="78906" y2="61285"/>
                        <a14:foregroundMark x1="78906" y1="61285" x2="79980" y2="68750"/>
                        <a14:foregroundMark x1="68262" y1="57465" x2="77637" y2="56076"/>
                        <a14:foregroundMark x1="77637" y1="56076" x2="84766" y2="57292"/>
                        <a14:foregroundMark x1="84766" y1="57292" x2="88770" y2="56771"/>
                        <a14:foregroundMark x1="90918" y1="52778" x2="90918" y2="52257"/>
                        <a14:foregroundMark x1="85059" y1="45313" x2="84766" y2="44097"/>
                        <a14:foregroundMark x1="74609" y1="32639" x2="77930" y2="25174"/>
                        <a14:foregroundMark x1="77930" y1="25174" x2="79785" y2="33507"/>
                        <a14:foregroundMark x1="77246" y1="75868" x2="77778" y2="75566"/>
                        <a14:foregroundMark x1="69629" y1="61806" x2="75488" y2="68229"/>
                        <a14:foregroundMark x1="75488" y1="68229" x2="80957" y2="67188"/>
                        <a14:foregroundMark x1="80957" y1="67188" x2="84180" y2="60417"/>
                        <a14:foregroundMark x1="88770" y1="56076" x2="88770" y2="55729"/>
                        <a14:foregroundMark x1="65430" y1="55035" x2="64160" y2="44271"/>
                        <a14:foregroundMark x1="64160" y1="44271" x2="64941" y2="53646"/>
                        <a14:foregroundMark x1="64941" y1="53646" x2="64453" y2="56424"/>
                        <a14:backgroundMark x1="77344" y1="76910" x2="79590" y2="76215"/>
                      </a14:backgroundRemoval>
                    </a14:imgEffect>
                  </a14:imgLayer>
                </a14:imgProps>
              </a:ext>
            </a:extLst>
          </a:blip>
          <a:srcRect l="61025" t="22000" b="18853"/>
          <a:stretch>
            <a:fillRect/>
          </a:stretch>
        </p:blipFill>
        <p:spPr>
          <a:xfrm>
            <a:off x="3160293" y="2680380"/>
            <a:ext cx="827584" cy="7064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E96D7B1-28C9-0D1A-3F98-BF6A04AAA318}"/>
              </a:ext>
            </a:extLst>
          </p:cNvPr>
          <p:cNvSpPr txBox="1"/>
          <p:nvPr/>
        </p:nvSpPr>
        <p:spPr>
          <a:xfrm>
            <a:off x="3767262" y="2810412"/>
            <a:ext cx="4581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-в очках виртуальной реальности</a:t>
            </a:r>
            <a:endParaRPr lang="ru-RU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B284CC-4B0F-D1E9-566B-1473948DF06E}"/>
              </a:ext>
            </a:extLst>
          </p:cNvPr>
          <p:cNvSpPr txBox="1"/>
          <p:nvPr/>
        </p:nvSpPr>
        <p:spPr>
          <a:xfrm>
            <a:off x="3795809" y="3449638"/>
            <a:ext cx="2400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на мягкой поверхности</a:t>
            </a:r>
            <a:endParaRPr lang="ru-R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B502CC-1747-1E1A-88B4-CC3006632FF1}"/>
                  </a:ext>
                </a:extLst>
              </p:cNvPr>
              <p:cNvSpPr txBox="1"/>
              <p:nvPr/>
            </p:nvSpPr>
            <p:spPr>
              <a:xfrm>
                <a:off x="3168900" y="3845085"/>
                <a:ext cx="5354708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Входные данные: 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Отображение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0; 60</m:t>
                        </m:r>
                      </m:e>
                    </m:d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отрезок времени в секундах,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множество координат центра масс в миллиметрах. Для дальнейшей обработки в качестве входного сигнала берётся 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проекция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отображения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B502CC-1747-1E1A-88B4-CC3006632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900" y="3845085"/>
                <a:ext cx="5354708" cy="1169551"/>
              </a:xfrm>
              <a:prstGeom prst="rect">
                <a:avLst/>
              </a:prstGeom>
              <a:blipFill>
                <a:blip r:embed="rId15"/>
                <a:stretch>
                  <a:fillRect l="-342" t="-1042" b="-41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E1E4E14-6162-2A60-EF6F-547221E782D1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618459-240A-A975-E359-E670D504B1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15429E-F1D6-DB7A-390D-AC389BDAE18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7060760-ECDE-BC68-2284-1D371221D7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5DAF89BF-9642-C72D-3F93-A03772F894B2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24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7804-8856-8002-45F2-DBF93126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85F943-E979-9F83-6514-3DBFEED89AF3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795908-09B6-C7AF-CA19-5E70D55EB5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CA1FE2D-CF74-7156-1EE4-9D4D4D165249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5C2C04A-CFB8-E11E-4975-113AAAED70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15E57C-C762-544F-0593-AF0A700DB486}"/>
              </a:ext>
            </a:extLst>
          </p:cNvPr>
          <p:cNvSpPr txBox="1"/>
          <p:nvPr/>
        </p:nvSpPr>
        <p:spPr>
          <a:xfrm>
            <a:off x="135567" y="0"/>
            <a:ext cx="81808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входного сигнала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сигнала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s(t)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метода Гильберта-Хуанга. Результат: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Гильберта- Хуанга.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FF0685-F675-295D-6657-276CDD0227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20" t="7584" r="13508" b="5555"/>
          <a:stretch>
            <a:fillRect/>
          </a:stretch>
        </p:blipFill>
        <p:spPr>
          <a:xfrm>
            <a:off x="625591" y="1203597"/>
            <a:ext cx="6394681" cy="3377515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1D50CCAB-C1BB-97A7-B314-4D80BEDC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1BF27-08F1-C7B7-BD49-99980825080A}"/>
              </a:ext>
            </a:extLst>
          </p:cNvPr>
          <p:cNvSpPr txBox="1"/>
          <p:nvPr/>
        </p:nvSpPr>
        <p:spPr>
          <a:xfrm>
            <a:off x="5004048" y="4304856"/>
            <a:ext cx="1247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Частота, Гц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DB59AA-4BD9-803A-E616-4B1CBAE8BCBB}"/>
              </a:ext>
            </a:extLst>
          </p:cNvPr>
          <p:cNvSpPr txBox="1"/>
          <p:nvPr/>
        </p:nvSpPr>
        <p:spPr>
          <a:xfrm>
            <a:off x="1835696" y="4304856"/>
            <a:ext cx="12413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Время, сек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6E09C-AD9B-9108-265F-F7A4962ADBAE}"/>
              </a:ext>
            </a:extLst>
          </p:cNvPr>
          <p:cNvSpPr txBox="1"/>
          <p:nvPr/>
        </p:nvSpPr>
        <p:spPr>
          <a:xfrm rot="16200000">
            <a:off x="-708268" y="2496807"/>
            <a:ext cx="26677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Квадрат амплитуды, мм</a:t>
            </a:r>
            <a:r>
              <a:rPr lang="ru-RU" baseline="30000" dirty="0"/>
              <a:t>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A0134E-8CEF-FEBF-4755-BB1089FB7519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BFEDA6-422A-A7B9-00CB-5E3734CC7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DC6D816-4DE0-7BB0-64D8-EEA45255A909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715665-04CF-A68A-8FA4-D1FF4E4FA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0EE750D3-00C9-F6BF-C1C5-CD38DC5FA1C8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4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68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0DB7-87D8-1293-4894-B52923C7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Улучшите свои спортивные результаты с помощью проприоцепции">
            <a:extLst>
              <a:ext uri="{FF2B5EF4-FFF2-40B4-BE49-F238E27FC236}">
                <a16:creationId xmlns:a16="http://schemas.microsoft.com/office/drawing/2014/main" id="{71E45B8C-2911-777B-427D-9472DBCBF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1"/>
          <a:stretch>
            <a:fillRect/>
          </a:stretch>
        </p:blipFill>
        <p:spPr bwMode="auto">
          <a:xfrm>
            <a:off x="4788024" y="2906209"/>
            <a:ext cx="3672408" cy="197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5D1BD72B-DF27-E201-04B6-E5A730886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267" y="87534"/>
            <a:ext cx="553050" cy="5400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2ABDBD-1318-BFDA-8CE2-59A99356C3BC}"/>
              </a:ext>
            </a:extLst>
          </p:cNvPr>
          <p:cNvSpPr txBox="1"/>
          <p:nvPr/>
        </p:nvSpPr>
        <p:spPr>
          <a:xfrm>
            <a:off x="84051" y="4083918"/>
            <a:ext cx="659482" cy="33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endParaRPr kumimoji="0" lang="en-US" sz="800" b="0" u="none" strike="noStrike" kern="0" cap="none" spc="0" baseline="0" noProof="0" dirty="0">
              <a:ln>
                <a:noFill/>
              </a:ln>
              <a:solidFill>
                <a:schemeClr val="bg1"/>
              </a:solidFill>
              <a:uLnTx/>
              <a:latin typeface="PT Sans" panose="020B0503020203020204" pitchFamily="34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3C080-4EB4-CABA-414D-35B9B38659AD}"/>
              </a:ext>
            </a:extLst>
          </p:cNvPr>
          <p:cNvSpPr txBox="1"/>
          <p:nvPr/>
        </p:nvSpPr>
        <p:spPr>
          <a:xfrm>
            <a:off x="231357" y="42513"/>
            <a:ext cx="8080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всех положений при фиксированным частотам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505F268F-18CF-333A-F21A-F9B6C7120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067372"/>
                  </p:ext>
                </p:extLst>
              </p:nvPr>
            </p:nvGraphicFramePr>
            <p:xfrm>
              <a:off x="381337" y="467338"/>
              <a:ext cx="6100555" cy="22765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83415">
                      <a:extLst>
                        <a:ext uri="{9D8B030D-6E8A-4147-A177-3AD203B41FA5}">
                          <a16:colId xmlns:a16="http://schemas.microsoft.com/office/drawing/2014/main" val="2880234507"/>
                        </a:ext>
                      </a:extLst>
                    </a:gridCol>
                    <a:gridCol w="2530108">
                      <a:extLst>
                        <a:ext uri="{9D8B030D-6E8A-4147-A177-3AD203B41FA5}">
                          <a16:colId xmlns:a16="http://schemas.microsoft.com/office/drawing/2014/main" val="930440355"/>
                        </a:ext>
                      </a:extLst>
                    </a:gridCol>
                    <a:gridCol w="2087032">
                      <a:extLst>
                        <a:ext uri="{9D8B030D-6E8A-4147-A177-3AD203B41FA5}">
                          <a16:colId xmlns:a16="http://schemas.microsoft.com/office/drawing/2014/main" val="1440005482"/>
                        </a:ext>
                      </a:extLst>
                    </a:gridCol>
                  </a:tblGrid>
                  <a:tr h="316782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Частота, Гц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Соответствующие  амплитуды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Соответствующие моменты времени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8701689"/>
                      </a:ext>
                    </a:extLst>
                  </a:tr>
                  <a:tr h="249462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7006703"/>
                      </a:ext>
                    </a:extLst>
                  </a:tr>
                  <a:tr h="183564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2421647"/>
                      </a:ext>
                    </a:extLst>
                  </a:tr>
                  <a:tr h="201975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1808952"/>
                      </a:ext>
                    </a:extLst>
                  </a:tr>
                  <a:tr h="225675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8527467"/>
                      </a:ext>
                    </a:extLst>
                  </a:tr>
                  <a:tr h="249462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А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u-RU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ru-RU" sz="1600" b="0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sup>
                                </m:sSubSup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8189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505F268F-18CF-333A-F21A-F9B6C7120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067372"/>
                  </p:ext>
                </p:extLst>
              </p:nvPr>
            </p:nvGraphicFramePr>
            <p:xfrm>
              <a:off x="381337" y="467338"/>
              <a:ext cx="6100555" cy="22765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83415">
                      <a:extLst>
                        <a:ext uri="{9D8B030D-6E8A-4147-A177-3AD203B41FA5}">
                          <a16:colId xmlns:a16="http://schemas.microsoft.com/office/drawing/2014/main" val="2880234507"/>
                        </a:ext>
                      </a:extLst>
                    </a:gridCol>
                    <a:gridCol w="2530108">
                      <a:extLst>
                        <a:ext uri="{9D8B030D-6E8A-4147-A177-3AD203B41FA5}">
                          <a16:colId xmlns:a16="http://schemas.microsoft.com/office/drawing/2014/main" val="930440355"/>
                        </a:ext>
                      </a:extLst>
                    </a:gridCol>
                    <a:gridCol w="2087032">
                      <a:extLst>
                        <a:ext uri="{9D8B030D-6E8A-4147-A177-3AD203B41FA5}">
                          <a16:colId xmlns:a16="http://schemas.microsoft.com/office/drawing/2014/main" val="144000548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Частота, Гц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Соответствующие  амплитуды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Соответствующие моменты времени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8701689"/>
                      </a:ext>
                    </a:extLst>
                  </a:tr>
                  <a:tr h="339408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036" t="-173214" r="-83133" b="-4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2420" t="-173214" r="-583" b="-4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7006703"/>
                      </a:ext>
                    </a:extLst>
                  </a:tr>
                  <a:tr h="339916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036" t="-273214" r="-83133" b="-3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2420" t="-273214" r="-583" b="-3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242164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1808952"/>
                      </a:ext>
                    </a:extLst>
                  </a:tr>
                  <a:tr h="341249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19,75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036" t="-473214" r="-83133" b="-1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2420" t="-473214" r="-583" b="-1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527467"/>
                      </a:ext>
                    </a:extLst>
                  </a:tr>
                  <a:tr h="341567">
                    <a:tc>
                      <a:txBody>
                        <a:bodyPr/>
                        <a:lstStyle/>
                        <a:p>
                          <a:r>
                            <a:rPr lang="ru-RU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036" t="-573214" r="-83133" b="-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2420" t="-573214" r="-583" b="-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189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9BFECE-27D7-3285-81C6-41958672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049FE-36FB-3376-E114-6EA40D30BE62}"/>
              </a:ext>
            </a:extLst>
          </p:cNvPr>
          <p:cNvSpPr txBox="1"/>
          <p:nvPr/>
        </p:nvSpPr>
        <p:spPr>
          <a:xfrm>
            <a:off x="403243" y="3078708"/>
            <a:ext cx="52179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Деление частот на три диапазона: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 Гц – 0,5 Гц – работа вестибулярного рефлекса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зрительной системы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0,5 Гц – 2 Гц – работа мозжечковой регуляции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Гц – 20 Гц – работа </a:t>
            </a:r>
            <a:r>
              <a:rPr lang="ru-RU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проприоцепции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E15C77B-5082-9C54-5E9D-2826B8B79042}"/>
              </a:ext>
            </a:extLst>
          </p:cNvPr>
          <p:cNvSpPr/>
          <p:nvPr/>
        </p:nvSpPr>
        <p:spPr>
          <a:xfrm>
            <a:off x="8326279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DB84A96-08A8-2117-6654-238EE0BA2F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189B98-9E53-D69F-0C42-1DECC7FC10C1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05EF229-DAB6-3CEC-7513-98FB92733C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3C5A86-A9E8-3D6C-DDB5-D0EB21D1C533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425BBA7-94ED-A037-6189-8072981C3D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E846D6-BDD9-A0D4-7870-FBC9FF0BDACF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2AC7AE7-594F-7E68-C3B2-36BC67DD3E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6D60E6A0-0335-7DC6-15AC-9AC33B1498E4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5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935ECD-56DD-0682-3684-2185351855BF}"/>
              </a:ext>
            </a:extLst>
          </p:cNvPr>
          <p:cNvSpPr txBox="1"/>
          <p:nvPr/>
        </p:nvSpPr>
        <p:spPr>
          <a:xfrm>
            <a:off x="381337" y="4648692"/>
            <a:ext cx="5239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i="1" dirty="0" err="1"/>
              <a:t>Интерпретацияя</a:t>
            </a:r>
            <a:r>
              <a:rPr lang="ru-RU" sz="900" i="1" dirty="0"/>
              <a:t> каждого диапазона взята из научной статьи:</a:t>
            </a:r>
          </a:p>
          <a:p>
            <a:r>
              <a:rPr lang="en-US" sz="900" b="1" i="1" dirty="0"/>
              <a:t>Postural characteristics of diabetic neuropathy</a:t>
            </a:r>
            <a:r>
              <a:rPr lang="en-US" sz="900" dirty="0"/>
              <a:t>/ U. Oppenheim, R. Kohen-Raz, D. Alex, A. Kohen-Raz, M. </a:t>
            </a:r>
            <a:r>
              <a:rPr lang="en-US" sz="900" dirty="0" err="1"/>
              <a:t>Azary</a:t>
            </a:r>
            <a:r>
              <a:rPr lang="en-US" sz="900" dirty="0"/>
              <a:t> // Diabetes Care 1999; 22:328–332.</a:t>
            </a:r>
            <a:endParaRPr lang="ru-RU" sz="900" dirty="0"/>
          </a:p>
          <a:p>
            <a:endParaRPr lang="en-US" sz="900" b="1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979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879-7C0D-396F-4633-6509BB64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8107B0-B579-131E-F3D5-D72A4F4EA1D1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7827AC-CFF7-0EF3-C31B-09C99AD848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2FBFEB-535C-8E6A-2A03-7DBC564F118D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B581931-77A5-E539-87DB-09416771BD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DED7A2-DCCC-522F-B33E-6941D1B39B05}"/>
              </a:ext>
            </a:extLst>
          </p:cNvPr>
          <p:cNvSpPr txBox="1"/>
          <p:nvPr/>
        </p:nvSpPr>
        <p:spPr>
          <a:xfrm>
            <a:off x="151390" y="166340"/>
            <a:ext cx="712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43091A-0900-0045-F6D7-D7B85E31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schemeClr val="bg1"/>
                </a:solidFill>
              </a:rPr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2CDF66D-B3C1-6285-86F5-C2316121FB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838" t="4769" r="52362" b="5739"/>
          <a:stretch>
            <a:fillRect/>
          </a:stretch>
        </p:blipFill>
        <p:spPr>
          <a:xfrm>
            <a:off x="151389" y="195640"/>
            <a:ext cx="4142801" cy="47815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B15F70-016A-F41F-D861-E3E1328F6D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937" t="6408" r="7956" b="4844"/>
          <a:stretch>
            <a:fillRect/>
          </a:stretch>
        </p:blipFill>
        <p:spPr>
          <a:xfrm>
            <a:off x="4181705" y="285276"/>
            <a:ext cx="4188854" cy="475583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AA53852-DBC2-3D22-3291-6A85E28D17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96" b="89410" l="10938" r="37402">
                        <a14:foregroundMark x1="12598" y1="37847" x2="10938" y2="48958"/>
                        <a14:foregroundMark x1="10938" y1="48958" x2="10938" y2="58160"/>
                        <a14:foregroundMark x1="10938" y1="58160" x2="12988" y2="65799"/>
                        <a14:backgroundMark x1="17383" y1="73438" x2="23438" y2="76736"/>
                        <a14:backgroundMark x1="23438" y1="76736" x2="28711" y2="74479"/>
                        <a14:backgroundMark x1="28711" y1="74479" x2="29102" y2="73958"/>
                      </a14:backgroundRemoval>
                    </a14:imgEffect>
                  </a14:imgLayer>
                </a14:imgProps>
              </a:ext>
            </a:extLst>
          </a:blip>
          <a:srcRect l="9838" t="25367" r="59450" b="23011"/>
          <a:stretch>
            <a:fillRect/>
          </a:stretch>
        </p:blipFill>
        <p:spPr>
          <a:xfrm>
            <a:off x="1481083" y="3385882"/>
            <a:ext cx="685464" cy="64807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C74C7A5-1958-B444-2AF5-8FD478A27A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6797" r="93281">
                        <a14:foregroundMark x1="9531" y1="43828" x2="6797" y2="52891"/>
                        <a14:foregroundMark x1="6797" y1="52891" x2="14297" y2="56328"/>
                        <a14:foregroundMark x1="90469" y1="43672" x2="91250" y2="58203"/>
                        <a14:foregroundMark x1="91250" y1="58203" x2="90469" y2="46953"/>
                        <a14:foregroundMark x1="90469" y1="46953" x2="93281" y2="56250"/>
                        <a14:foregroundMark x1="93281" y1="56250" x2="92891" y2="48594"/>
                        <a14:foregroundMark x1="84453" y1="64766" x2="91406" y2="59219"/>
                        <a14:backgroundMark x1="88281" y1="63828" x2="92188" y2="59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8377" y="3562519"/>
            <a:ext cx="789830" cy="7898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9F56EA5-CB2F-42B2-7664-E63929F52A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96" b="89410" l="10938" r="37402">
                        <a14:foregroundMark x1="12598" y1="37847" x2="10938" y2="48958"/>
                        <a14:foregroundMark x1="10938" y1="48958" x2="10938" y2="58160"/>
                        <a14:foregroundMark x1="10938" y1="58160" x2="12988" y2="65799"/>
                        <a14:backgroundMark x1="17383" y1="73438" x2="23438" y2="76736"/>
                        <a14:backgroundMark x1="23438" y1="76736" x2="28711" y2="74479"/>
                        <a14:backgroundMark x1="28711" y1="74479" x2="29102" y2="73958"/>
                      </a14:backgroundRemoval>
                    </a14:imgEffect>
                  </a14:imgLayer>
                </a14:imgProps>
              </a:ext>
            </a:extLst>
          </a:blip>
          <a:srcRect l="9838" t="25367" r="59450" b="23011"/>
          <a:stretch>
            <a:fillRect/>
          </a:stretch>
        </p:blipFill>
        <p:spPr>
          <a:xfrm>
            <a:off x="4857013" y="3385882"/>
            <a:ext cx="685464" cy="64807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699AB37-18AC-4683-D65C-C983BB2660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4422" t="22732" r="36893" b="21172"/>
          <a:stretch>
            <a:fillRect/>
          </a:stretch>
        </p:blipFill>
        <p:spPr>
          <a:xfrm>
            <a:off x="1333538" y="1866241"/>
            <a:ext cx="589157" cy="648072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1D7E615-FF61-4966-2277-3394A1D3F0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6797" r="93281">
                        <a14:foregroundMark x1="9531" y1="43828" x2="6797" y2="52891"/>
                        <a14:foregroundMark x1="6797" y1="52891" x2="14297" y2="56328"/>
                        <a14:foregroundMark x1="90469" y1="43672" x2="91250" y2="58203"/>
                        <a14:foregroundMark x1="91250" y1="58203" x2="90469" y2="46953"/>
                        <a14:foregroundMark x1="90469" y1="46953" x2="93281" y2="56250"/>
                        <a14:foregroundMark x1="93281" y1="56250" x2="92891" y2="48594"/>
                        <a14:foregroundMark x1="84453" y1="64766" x2="91406" y2="59219"/>
                        <a14:backgroundMark x1="88281" y1="63828" x2="92188" y2="59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2490" y="2027087"/>
            <a:ext cx="789830" cy="78983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ABDFA69-8D51-6513-1623-3DB9F52210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4422" t="22732" r="36893" b="21172"/>
          <a:stretch>
            <a:fillRect/>
          </a:stretch>
        </p:blipFill>
        <p:spPr>
          <a:xfrm>
            <a:off x="5762827" y="1857755"/>
            <a:ext cx="589157" cy="6480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1C689DF-05C0-2776-083C-168691573B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174" b="77778" l="64453" r="96094">
                        <a14:foregroundMark x1="63477" y1="43056" x2="63672" y2="53125"/>
                        <a14:foregroundMark x1="63672" y1="53125" x2="62988" y2="43750"/>
                        <a14:foregroundMark x1="62988" y1="43750" x2="68359" y2="39931"/>
                        <a14:foregroundMark x1="68359" y1="39931" x2="68848" y2="51910"/>
                        <a14:foregroundMark x1="68848" y1="51910" x2="70996" y2="42708"/>
                        <a14:foregroundMark x1="70996" y1="42708" x2="75586" y2="47917"/>
                        <a14:foregroundMark x1="75586" y1="47917" x2="78516" y2="36111"/>
                        <a14:foregroundMark x1="78516" y1="36111" x2="84766" y2="52431"/>
                        <a14:foregroundMark x1="84766" y1="52431" x2="87207" y2="40451"/>
                        <a14:foregroundMark x1="87207" y1="40451" x2="91309" y2="46701"/>
                        <a14:foregroundMark x1="91309" y1="46701" x2="87402" y2="65451"/>
                        <a14:foregroundMark x1="87402" y1="65451" x2="81738" y2="72049"/>
                        <a14:foregroundMark x1="81738" y1="72049" x2="84082" y2="62847"/>
                        <a14:foregroundMark x1="84082" y1="62847" x2="79919" y2="73232"/>
                        <a14:foregroundMark x1="78177" y1="74328" x2="78516" y2="66146"/>
                        <a14:foregroundMark x1="78516" y1="66146" x2="73535" y2="71528"/>
                        <a14:foregroundMark x1="73535" y1="71528" x2="65918" y2="53993"/>
                        <a14:foregroundMark x1="65918" y1="53993" x2="70020" y2="35764"/>
                        <a14:foregroundMark x1="70020" y1="35764" x2="75977" y2="31771"/>
                        <a14:foregroundMark x1="75977" y1="31771" x2="89063" y2="36632"/>
                        <a14:foregroundMark x1="89063" y1="36632" x2="91406" y2="43229"/>
                        <a14:foregroundMark x1="73535" y1="66493" x2="78906" y2="61285"/>
                        <a14:foregroundMark x1="78906" y1="61285" x2="79980" y2="68750"/>
                        <a14:foregroundMark x1="68262" y1="57465" x2="77637" y2="56076"/>
                        <a14:foregroundMark x1="77637" y1="56076" x2="84766" y2="57292"/>
                        <a14:foregroundMark x1="84766" y1="57292" x2="88770" y2="56771"/>
                        <a14:foregroundMark x1="90918" y1="52778" x2="90918" y2="52257"/>
                        <a14:foregroundMark x1="85059" y1="45313" x2="84766" y2="44097"/>
                        <a14:foregroundMark x1="74609" y1="32639" x2="77930" y2="25174"/>
                        <a14:foregroundMark x1="77930" y1="25174" x2="79785" y2="33507"/>
                        <a14:foregroundMark x1="77246" y1="75868" x2="77778" y2="75566"/>
                        <a14:foregroundMark x1="69629" y1="61806" x2="75488" y2="68229"/>
                        <a14:foregroundMark x1="75488" y1="68229" x2="80957" y2="67188"/>
                        <a14:foregroundMark x1="80957" y1="67188" x2="84180" y2="60417"/>
                        <a14:foregroundMark x1="88770" y1="56076" x2="88770" y2="55729"/>
                        <a14:foregroundMark x1="65430" y1="55035" x2="64160" y2="44271"/>
                        <a14:foregroundMark x1="64160" y1="44271" x2="64941" y2="53646"/>
                        <a14:foregroundMark x1="64941" y1="53646" x2="64453" y2="56424"/>
                        <a14:backgroundMark x1="77344" y1="76910" x2="79590" y2="76215"/>
                      </a14:backgroundRemoval>
                    </a14:imgEffect>
                  </a14:imgLayer>
                </a14:imgProps>
              </a:ext>
            </a:extLst>
          </a:blip>
          <a:srcRect l="61025" t="22000" b="18853"/>
          <a:stretch>
            <a:fillRect/>
          </a:stretch>
        </p:blipFill>
        <p:spPr>
          <a:xfrm>
            <a:off x="827814" y="111202"/>
            <a:ext cx="827584" cy="70644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766AD00-0FA1-47FD-725F-1F6DD49A3F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6797" r="93281">
                        <a14:foregroundMark x1="9531" y1="43828" x2="6797" y2="52891"/>
                        <a14:foregroundMark x1="6797" y1="52891" x2="14297" y2="56328"/>
                        <a14:foregroundMark x1="90469" y1="43672" x2="91250" y2="58203"/>
                        <a14:foregroundMark x1="91250" y1="58203" x2="90469" y2="46953"/>
                        <a14:foregroundMark x1="90469" y1="46953" x2="93281" y2="56250"/>
                        <a14:foregroundMark x1="93281" y1="56250" x2="92891" y2="48594"/>
                        <a14:foregroundMark x1="84453" y1="64766" x2="91406" y2="59219"/>
                        <a14:backgroundMark x1="88281" y1="63828" x2="92188" y2="59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9812" y="286616"/>
            <a:ext cx="789830" cy="7898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658BBF6-3E00-9D2C-1255-5DE297C9F4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174" b="77778" l="64453" r="96094">
                        <a14:foregroundMark x1="63477" y1="43056" x2="63672" y2="53125"/>
                        <a14:foregroundMark x1="63672" y1="53125" x2="62988" y2="43750"/>
                        <a14:foregroundMark x1="62988" y1="43750" x2="68359" y2="39931"/>
                        <a14:foregroundMark x1="68359" y1="39931" x2="68848" y2="51910"/>
                        <a14:foregroundMark x1="68848" y1="51910" x2="70996" y2="42708"/>
                        <a14:foregroundMark x1="70996" y1="42708" x2="75586" y2="47917"/>
                        <a14:foregroundMark x1="75586" y1="47917" x2="78516" y2="36111"/>
                        <a14:foregroundMark x1="78516" y1="36111" x2="84766" y2="52431"/>
                        <a14:foregroundMark x1="84766" y1="52431" x2="87207" y2="40451"/>
                        <a14:foregroundMark x1="87207" y1="40451" x2="91309" y2="46701"/>
                        <a14:foregroundMark x1="91309" y1="46701" x2="87402" y2="65451"/>
                        <a14:foregroundMark x1="87402" y1="65451" x2="81738" y2="72049"/>
                        <a14:foregroundMark x1="81738" y1="72049" x2="84082" y2="62847"/>
                        <a14:foregroundMark x1="84082" y1="62847" x2="79919" y2="73232"/>
                        <a14:foregroundMark x1="78177" y1="74328" x2="78516" y2="66146"/>
                        <a14:foregroundMark x1="78516" y1="66146" x2="73535" y2="71528"/>
                        <a14:foregroundMark x1="73535" y1="71528" x2="65918" y2="53993"/>
                        <a14:foregroundMark x1="65918" y1="53993" x2="70020" y2="35764"/>
                        <a14:foregroundMark x1="70020" y1="35764" x2="75977" y2="31771"/>
                        <a14:foregroundMark x1="75977" y1="31771" x2="89063" y2="36632"/>
                        <a14:foregroundMark x1="89063" y1="36632" x2="91406" y2="43229"/>
                        <a14:foregroundMark x1="73535" y1="66493" x2="78906" y2="61285"/>
                        <a14:foregroundMark x1="78906" y1="61285" x2="79980" y2="68750"/>
                        <a14:foregroundMark x1="68262" y1="57465" x2="77637" y2="56076"/>
                        <a14:foregroundMark x1="77637" y1="56076" x2="84766" y2="57292"/>
                        <a14:foregroundMark x1="84766" y1="57292" x2="88770" y2="56771"/>
                        <a14:foregroundMark x1="90918" y1="52778" x2="90918" y2="52257"/>
                        <a14:foregroundMark x1="85059" y1="45313" x2="84766" y2="44097"/>
                        <a14:foregroundMark x1="74609" y1="32639" x2="77930" y2="25174"/>
                        <a14:foregroundMark x1="77930" y1="25174" x2="79785" y2="33507"/>
                        <a14:foregroundMark x1="77246" y1="75868" x2="77778" y2="75566"/>
                        <a14:foregroundMark x1="69629" y1="61806" x2="75488" y2="68229"/>
                        <a14:foregroundMark x1="75488" y1="68229" x2="80957" y2="67188"/>
                        <a14:foregroundMark x1="80957" y1="67188" x2="84180" y2="60417"/>
                        <a14:foregroundMark x1="88770" y1="56076" x2="88770" y2="55729"/>
                        <a14:foregroundMark x1="65430" y1="55035" x2="64160" y2="44271"/>
                        <a14:foregroundMark x1="64160" y1="44271" x2="64941" y2="53646"/>
                        <a14:foregroundMark x1="64941" y1="53646" x2="64453" y2="56424"/>
                        <a14:backgroundMark x1="77344" y1="76910" x2="79590" y2="76215"/>
                      </a14:backgroundRemoval>
                    </a14:imgEffect>
                  </a14:imgLayer>
                </a14:imgProps>
              </a:ext>
            </a:extLst>
          </a:blip>
          <a:srcRect l="61025" t="22000" b="18853"/>
          <a:stretch>
            <a:fillRect/>
          </a:stretch>
        </p:blipFill>
        <p:spPr>
          <a:xfrm>
            <a:off x="4898870" y="58088"/>
            <a:ext cx="827584" cy="70644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EE84E9-6FAB-AE56-D92B-629608A4ECE3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50BF62-079D-91A5-F554-95C84BCEB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C73948-C182-BFB3-0463-F9A959084FC7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BDF08C-80C8-D0BC-0014-AC4EAD1689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69A6D161-8605-241E-923F-BF4A3AE56871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6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363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996A-5AC6-0709-2704-16ACE1555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6F3E13-8F1F-C8D7-643E-75527119E918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DD2239-2002-C4F7-9197-A9E4E86B15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EC65DEC-8E45-1B68-65BF-CCB31D6775E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65E9AE-3BD7-A8CE-6AF2-7F28EB6CD6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AA16F6-9DB6-5805-EBE3-AF02C90D8D76}"/>
              </a:ext>
            </a:extLst>
          </p:cNvPr>
          <p:cNvSpPr txBox="1"/>
          <p:nvPr/>
        </p:nvSpPr>
        <p:spPr>
          <a:xfrm>
            <a:off x="5033072" y="486420"/>
            <a:ext cx="3145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Центрирование сигналов всех частотных диапазонов и взятие модуля от полученных функций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CBA6B3-F485-4F66-0834-344A06AB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ED0CCB3-9CF6-D24E-EF56-DC7F1D01A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69" y="1691042"/>
            <a:ext cx="4620327" cy="176141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B030F5C-2684-3E8C-3FD2-0C070B30AE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21"/>
          <a:stretch>
            <a:fillRect/>
          </a:stretch>
        </p:blipFill>
        <p:spPr>
          <a:xfrm>
            <a:off x="257662" y="99959"/>
            <a:ext cx="4561139" cy="1721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CFF246-EB08-DD8B-45DD-E5CED942D720}"/>
                  </a:ext>
                </a:extLst>
              </p:cNvPr>
              <p:cNvSpPr txBox="1"/>
              <p:nvPr/>
            </p:nvSpPr>
            <p:spPr>
              <a:xfrm>
                <a:off x="5033072" y="2329281"/>
                <a:ext cx="328334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Выделение моментов аномальных амплитуд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&gt;2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𝑠𝑡𝑑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CFF246-EB08-DD8B-45DD-E5CED942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072" y="2329281"/>
                <a:ext cx="3283344" cy="584775"/>
              </a:xfrm>
              <a:prstGeom prst="rect">
                <a:avLst/>
              </a:prstGeom>
              <a:blipFill>
                <a:blip r:embed="rId7"/>
                <a:stretch>
                  <a:fillRect l="-1115" t="-3125" b="-114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6255CAD-5D4F-0B4D-D1DA-BD13BB939605}"/>
              </a:ext>
            </a:extLst>
          </p:cNvPr>
          <p:cNvSpPr txBox="1"/>
          <p:nvPr/>
        </p:nvSpPr>
        <p:spPr>
          <a:xfrm>
            <a:off x="5033072" y="3550317"/>
            <a:ext cx="33605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интервалов аномальных амплитуд (интервалов аномальной активации) при помощи сглаживания</a:t>
            </a:r>
            <a:endParaRPr lang="ru-RU" sz="16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170FDB5-0498-3E9E-8AEE-80C0A13C19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441"/>
          <a:stretch>
            <a:fillRect/>
          </a:stretch>
        </p:blipFill>
        <p:spPr>
          <a:xfrm>
            <a:off x="14337" y="3412567"/>
            <a:ext cx="4759294" cy="169172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4F3083-F774-7FE6-9430-FFE87E51C44D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A6A3A2-572D-9C95-4E3A-35ED0394A0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FD9122-9181-1CB2-595C-BA7A33554A22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347846-CD62-38AD-5A0A-404A923607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1D9F4C26-F570-D2D2-4A00-FD04CEA65F72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7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688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CB3B-CC23-1979-CE6B-14763503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A2D4CE9-14AB-D206-7F10-269AE5512DFC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A65B7F-DC36-A24A-EA27-1AD2B7E54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E608AD-1EDA-420F-8D78-935170E9DBEF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02A8ADF-B76C-5CE6-F08F-E62A0688BC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378870-374D-3473-451C-5EC892BFBED4}"/>
              </a:ext>
            </a:extLst>
          </p:cNvPr>
          <p:cNvSpPr txBox="1"/>
          <p:nvPr/>
        </p:nvSpPr>
        <p:spPr>
          <a:xfrm>
            <a:off x="251520" y="24847"/>
            <a:ext cx="4007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 данных испытуемых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79421-676C-CC59-850F-5165B3D7B758}"/>
              </a:ext>
            </a:extLst>
          </p:cNvPr>
          <p:cNvSpPr txBox="1"/>
          <p:nvPr/>
        </p:nvSpPr>
        <p:spPr>
          <a:xfrm>
            <a:off x="74188" y="279690"/>
            <a:ext cx="8108906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Оптимальная оценка количества кластеров была получена адаптивно для каждого набора данных с помощью критерия</a:t>
            </a:r>
            <a:r>
              <a:rPr lang="ru-RU" sz="1600" kern="100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Калински-Харабаса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Параметром кластеризации стало ограничение числа кластеров: от 1 до 5. Сам процесс кластеризации был проведён с помощью метода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-средних,</a:t>
            </a:r>
            <a:r>
              <a:rPr lang="ru-RU" sz="1600" b="1" kern="100" dirty="0">
                <a:solidFill>
                  <a:srgbClr val="76767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основе которого лежит идея минимизации вариации внутри кластеров.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1B7E62-D96C-773D-AD5B-FA0A4945859B}"/>
              </a:ext>
            </a:extLst>
          </p:cNvPr>
          <p:cNvSpPr txBox="1"/>
          <p:nvPr/>
        </p:nvSpPr>
        <p:spPr>
          <a:xfrm>
            <a:off x="74188" y="2138470"/>
            <a:ext cx="7738172" cy="153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качестве метрики кластеризации был использован момент времени, в который возникала максимальная амплитуда. Эта характеристика определялась для каждого временного спектра из частотных диапазонов. Таким образом, каждое испытание каждого испытуемого кодировалось трехмерным вектором.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4B8D82-F9CF-3DBB-F086-1F23EF2018E1}"/>
                  </a:ext>
                </a:extLst>
              </p:cNvPr>
              <p:cNvSpPr txBox="1"/>
              <p:nvPr/>
            </p:nvSpPr>
            <p:spPr>
              <a:xfrm>
                <a:off x="3059832" y="3803538"/>
                <a:ext cx="19060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4B8D82-F9CF-3DBB-F086-1F23EF201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803538"/>
                <a:ext cx="190609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A8B5E46-0494-92FE-7E80-D7E8C471EC16}"/>
              </a:ext>
            </a:extLst>
          </p:cNvPr>
          <p:cNvCxnSpPr>
            <a:cxnSpLocks/>
          </p:cNvCxnSpPr>
          <p:nvPr/>
        </p:nvCxnSpPr>
        <p:spPr>
          <a:xfrm flipV="1">
            <a:off x="2218674" y="4077450"/>
            <a:ext cx="1049536" cy="269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5E9686-A979-FC03-C674-8C3B34929979}"/>
              </a:ext>
            </a:extLst>
          </p:cNvPr>
          <p:cNvSpPr txBox="1"/>
          <p:nvPr/>
        </p:nvSpPr>
        <p:spPr>
          <a:xfrm>
            <a:off x="770868" y="4289383"/>
            <a:ext cx="270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Момент максимальной активации вестибулярного и зрительного аппарата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743C5EB-777B-C02A-61CA-DF1CE03A149B}"/>
              </a:ext>
            </a:extLst>
          </p:cNvPr>
          <p:cNvCxnSpPr>
            <a:cxnSpLocks/>
          </p:cNvCxnSpPr>
          <p:nvPr/>
        </p:nvCxnSpPr>
        <p:spPr>
          <a:xfrm flipV="1">
            <a:off x="4077880" y="4299114"/>
            <a:ext cx="0" cy="243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792F52-5E6C-B76A-2167-0C4C61C95591}"/>
              </a:ext>
            </a:extLst>
          </p:cNvPr>
          <p:cNvSpPr txBox="1"/>
          <p:nvPr/>
        </p:nvSpPr>
        <p:spPr>
          <a:xfrm>
            <a:off x="3035846" y="4550993"/>
            <a:ext cx="3016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Момент максимальной активации мозжечковой регуляции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47C3CEB-E6BA-4D8A-9C37-37BD770FFBDB}"/>
              </a:ext>
            </a:extLst>
          </p:cNvPr>
          <p:cNvCxnSpPr>
            <a:cxnSpLocks/>
          </p:cNvCxnSpPr>
          <p:nvPr/>
        </p:nvCxnSpPr>
        <p:spPr>
          <a:xfrm flipH="1" flipV="1">
            <a:off x="4679173" y="4184747"/>
            <a:ext cx="1195417" cy="14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0AD1E96-4013-1528-A984-9016A18EB4BB}"/>
              </a:ext>
            </a:extLst>
          </p:cNvPr>
          <p:cNvSpPr txBox="1"/>
          <p:nvPr/>
        </p:nvSpPr>
        <p:spPr>
          <a:xfrm>
            <a:off x="5358668" y="4295981"/>
            <a:ext cx="2705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Момент максимальной активации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проприоцепционной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регуляции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A89C44-748E-1312-6A64-CF93AFF4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079896-598D-E87A-BAE4-67FD33CFEDC0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E52DC3-7701-07FE-B3C6-44421EAE4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087357-BA6E-A9DC-A618-AE87EAE43675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1A95F7-91A7-01FC-777E-E2FB114AD0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098A76A0-3845-4DD5-C09D-08E543BF2330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8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48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0EA6-AD95-C0E3-C2BE-034DE0EF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2BA8568-9235-131F-4152-761CC72FBBF0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9D2B66-973A-CC09-5FCA-745EAB5C5E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AD96AD-0735-88C1-C1FB-3515FAA775D1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25BDEB5-70E7-E31D-283B-CFC9156D54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5CB31D-78AB-3AC7-DF7E-D90913955557}"/>
              </a:ext>
            </a:extLst>
          </p:cNvPr>
          <p:cNvSpPr txBox="1"/>
          <p:nvPr/>
        </p:nvSpPr>
        <p:spPr>
          <a:xfrm>
            <a:off x="921535" y="0"/>
            <a:ext cx="7300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Кластеризация испытуемых после 43 лет при испытании в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VR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-очках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FC232E-93C2-F0E1-210B-88C70232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3EED36E-C1FB-BA8A-460C-E182503D48BD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F745C57-80CA-CF77-233C-6C2E5B3363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08DA4DF-D647-BCA6-C0F4-7A32A26EBE6B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93FC2EC-2DFF-094A-7122-06EC18CE0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C04670CB-DC86-4199-3401-419681CA377B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9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1824CFB-0353-E28E-A0D3-106CB970CD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88" t="6385" r="6785" b="748"/>
          <a:stretch>
            <a:fillRect/>
          </a:stretch>
        </p:blipFill>
        <p:spPr>
          <a:xfrm>
            <a:off x="194693" y="548814"/>
            <a:ext cx="8062500" cy="42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74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9441-ACAF-96C1-4359-AEE16507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D90A8A-372A-CBB4-D5BC-FC957F50D49E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7BD95A-B806-B197-AB44-1EB4B2451E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788A02-F564-48AF-D83F-AEB1C3EFA4B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0EBB6F-B309-86C9-065F-1570195B75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AF5FA-2219-A522-6E7A-C4DE8105F6BD}"/>
              </a:ext>
            </a:extLst>
          </p:cNvPr>
          <p:cNvSpPr txBox="1"/>
          <p:nvPr/>
        </p:nvSpPr>
        <p:spPr>
          <a:xfrm>
            <a:off x="251520" y="166340"/>
            <a:ext cx="8028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Исследована зависимость эмпирических мод сигнала от изменений его амплитудно-частотных характеристик </a:t>
            </a:r>
          </a:p>
          <a:p>
            <a:pPr marL="342900" indent="-34290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метод анализа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стабилографического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сигнала на основе спектра Гильберта-Хуанга</a:t>
            </a:r>
          </a:p>
          <a:p>
            <a:pPr marL="342900" indent="-34290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Кластеризованы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экспериментальные данные и выбрана метрика для этого.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Благодарности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Особую благодарность выражаем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направлению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междисциплинарных исследований спорта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научного центра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генетики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наук о жизни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«Сириус» за предоставленные экспериментальные данные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исследования.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DD132F-F3DF-CC2A-3AF3-DB9DBDC0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099C19C-2B3F-922F-5798-B3E7B5FACDE7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2D72AD5-7F08-7BE1-A139-3B16BD0AD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7F7593B-1806-7EDC-752B-A0A29B8E4E15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D0F6F9D-144E-4A21-B4B7-991EE47C9A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5E91396B-1E16-64F8-2481-7F0115442BDF}"/>
              </a:ext>
            </a:extLst>
          </p:cNvPr>
          <p:cNvSpPr txBox="1">
            <a:spLocks/>
          </p:cNvSpPr>
          <p:nvPr/>
        </p:nvSpPr>
        <p:spPr>
          <a:xfrm>
            <a:off x="8413989" y="2816917"/>
            <a:ext cx="6097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20</a:t>
            </a:r>
            <a:r>
              <a:rPr lang="en-US" b="1" dirty="0">
                <a:solidFill>
                  <a:schemeClr val="bg1"/>
                </a:solidFill>
              </a:rPr>
              <a:t>/20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377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F2AF4D-5F99-0EED-09FC-A4BBC3C1D89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oogle Shape;898;g89d9307d70_13_164"/>
          <p:cNvSpPr txBox="1"/>
          <p:nvPr/>
        </p:nvSpPr>
        <p:spPr>
          <a:xfrm>
            <a:off x="2089339" y="973978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PT Sans" panose="020B0503020203020204" pitchFamily="34" charset="-52"/>
              <a:ea typeface="Arial"/>
              <a:cs typeface="Arial"/>
              <a:sym typeface="Arial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1F81E5-8EFA-4C91-9D37-F65076B7B4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DD35B2-0F3A-4D58-954D-7BD709B90A68}"/>
              </a:ext>
            </a:extLst>
          </p:cNvPr>
          <p:cNvSpPr/>
          <p:nvPr/>
        </p:nvSpPr>
        <p:spPr>
          <a:xfrm>
            <a:off x="8172400" y="0"/>
            <a:ext cx="971600" cy="5143500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E62FD6-4DCB-4AEE-8C42-38874407AC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783472-4A26-CCBF-9BB4-0F5B587E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  <p:pic>
        <p:nvPicPr>
          <p:cNvPr id="5" name="Picture 2" descr="Улучшите свои спортивные результаты с помощью проприоцепции">
            <a:extLst>
              <a:ext uri="{FF2B5EF4-FFF2-40B4-BE49-F238E27FC236}">
                <a16:creationId xmlns:a16="http://schemas.microsoft.com/office/drawing/2014/main" id="{AE3D7C2C-DD82-273E-B69B-E01996BE3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329" b="98312" l="9382" r="32340">
                        <a14:foregroundMark x1="21413" y1="11603" x2="22517" y2="8861"/>
                        <a14:foregroundMark x1="22185" y1="6962" x2="22185" y2="7384"/>
                        <a14:foregroundMark x1="25717" y1="52532" x2="25386" y2="64979"/>
                        <a14:foregroundMark x1="24393" y1="89030" x2="24283" y2="90717"/>
                        <a14:foregroundMark x1="24283" y1="94093" x2="24283" y2="92616"/>
                        <a14:foregroundMark x1="24172" y1="93671" x2="27152" y2="983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5" r="64665"/>
          <a:stretch>
            <a:fillRect/>
          </a:stretch>
        </p:blipFill>
        <p:spPr bwMode="auto">
          <a:xfrm>
            <a:off x="3725906" y="1707654"/>
            <a:ext cx="1692188" cy="3092972"/>
          </a:xfrm>
          <a:prstGeom prst="rect">
            <a:avLst/>
          </a:prstGeom>
          <a:noFill/>
          <a:scene3d>
            <a:camera prst="orthographicFront">
              <a:rot lat="0" lon="108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8977-313A-BCAC-6584-1D9B8D0E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D83B3D-7E7B-ECD2-AFDC-F240787D2D58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BA6DD2-5D61-64AB-8B90-3510362BFC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4EBB5F-C2A4-A1D9-161D-B3D1C70443E2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ED6E15-3E1A-F5AF-74AB-331E400F7F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E461F-DD41-45E7-050F-0E79D2045813}"/>
              </a:ext>
            </a:extLst>
          </p:cNvPr>
          <p:cNvSpPr txBox="1"/>
          <p:nvPr/>
        </p:nvSpPr>
        <p:spPr>
          <a:xfrm>
            <a:off x="151390" y="102393"/>
            <a:ext cx="7211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«смешения мод»  метода Гильберта-Хуанга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x(t)=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10·sin(2·pi·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·t)+5·sin(2·pi·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·t)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350C888E-E0C2-DB39-4990-6154C291E3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02" t="25000" r="7713" b="41665"/>
          <a:stretch/>
        </p:blipFill>
        <p:spPr>
          <a:xfrm>
            <a:off x="17848" y="933101"/>
            <a:ext cx="8298567" cy="959069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3E51A0-C141-193B-85B1-CF5240C7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3476BC4-A54F-198B-CE21-848B2C0A62C3}"/>
              </a:ext>
            </a:extLst>
          </p:cNvPr>
          <p:cNvCxnSpPr/>
          <p:nvPr/>
        </p:nvCxnSpPr>
        <p:spPr>
          <a:xfrm>
            <a:off x="17848" y="2067694"/>
            <a:ext cx="831641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F72EC-2967-48AD-A690-C402DE4063D9}"/>
                  </a:ext>
                </a:extLst>
              </p:cNvPr>
              <p:cNvSpPr txBox="1"/>
              <p:nvPr/>
            </p:nvSpPr>
            <p:spPr>
              <a:xfrm>
                <a:off x="429914" y="2137309"/>
                <a:ext cx="8245678" cy="528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nary>
                      <m:naryPr>
                        <m:limLoc m:val="undOvr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ru-RU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den>
                        </m:f>
                        <m:func>
                          <m:func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limLoc m:val="undOvr"/>
                                <m:ctrlPr>
                                  <a:rPr lang="en-US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nary>
                          </m:e>
                        </m:func>
                      </m:e>
                    </m:nary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lim>
                        </m:limLow>
                      </m:fName>
                      <m:e>
                        <m:nary>
                          <m:naryPr>
                            <m:limLoc m:val="undOvr"/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fun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F72EC-2967-48AD-A690-C402DE406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14" y="2137309"/>
                <a:ext cx="8245678" cy="528606"/>
              </a:xfrm>
              <a:prstGeom prst="rect">
                <a:avLst/>
              </a:prstGeom>
              <a:blipFill>
                <a:blip r:embed="rId8"/>
                <a:stretch>
                  <a:fillRect t="-90698" b="-1441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447F80E-E14E-41EF-90F0-0BD3FE97B6A2}"/>
              </a:ext>
            </a:extLst>
          </p:cNvPr>
          <p:cNvCxnSpPr/>
          <p:nvPr/>
        </p:nvCxnSpPr>
        <p:spPr>
          <a:xfrm>
            <a:off x="17847" y="2800741"/>
            <a:ext cx="831641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AADAC6-B0BC-0C48-7377-9BE283D41D86}"/>
              </a:ext>
            </a:extLst>
          </p:cNvPr>
          <p:cNvSpPr txBox="1"/>
          <p:nvPr/>
        </p:nvSpPr>
        <p:spPr>
          <a:xfrm>
            <a:off x="151390" y="2816917"/>
            <a:ext cx="8208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минимизирует сумму квадратов внутри кластеров.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549B22-A493-BCFF-0160-C36E579A351E}"/>
                  </a:ext>
                </a:extLst>
              </p:cNvPr>
              <p:cNvSpPr txBox="1"/>
              <p:nvPr/>
            </p:nvSpPr>
            <p:spPr>
              <a:xfrm>
                <a:off x="8924" y="3133415"/>
                <a:ext cx="8298568" cy="729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𝑊𝐺𝑆𝑆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549B22-A493-BCFF-0160-C36E579A3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" y="3133415"/>
                <a:ext cx="8298568" cy="7294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1B424F-5702-7E05-858C-2FEB9D20E497}"/>
                  </a:ext>
                </a:extLst>
              </p:cNvPr>
              <p:cNvSpPr txBox="1"/>
              <p:nvPr/>
            </p:nvSpPr>
            <p:spPr>
              <a:xfrm>
                <a:off x="-3765" y="3868132"/>
                <a:ext cx="8359637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Индекс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Калински-Харабаса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16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СН</m:t>
                      </m:r>
                      <m:d>
                        <m:dPr>
                          <m:ctrlPr>
                            <a:rPr lang="ru-RU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𝐵𝐺𝑆𝑆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𝑊𝐺𝑆𝑆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1B424F-5702-7E05-858C-2FEB9D20E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5" y="3868132"/>
                <a:ext cx="8359637" cy="851259"/>
              </a:xfrm>
              <a:prstGeom prst="rect">
                <a:avLst/>
              </a:prstGeom>
              <a:blipFill>
                <a:blip r:embed="rId10"/>
                <a:stretch>
                  <a:fillRect t="-2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5ABE35B-DC48-FBAF-9FE8-E98BB3EF3B3D}"/>
              </a:ext>
            </a:extLst>
          </p:cNvPr>
          <p:cNvSpPr txBox="1"/>
          <p:nvPr/>
        </p:nvSpPr>
        <p:spPr>
          <a:xfrm>
            <a:off x="251484" y="476410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i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BGSS</a:t>
            </a:r>
            <a:r>
              <a:rPr lang="ru-RU" sz="12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— сумма квадратов расстояний между центрами кластеров,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98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5573ED-7FFE-3126-D61D-A422F21C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443FDA-E93C-025C-2BDE-03EF5504D710}"/>
                  </a:ext>
                </a:extLst>
              </p:cNvPr>
              <p:cNvSpPr txBox="1"/>
              <p:nvPr/>
            </p:nvSpPr>
            <p:spPr>
              <a:xfrm>
                <a:off x="0" y="102393"/>
                <a:ext cx="8784976" cy="4682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Доказательство того</a:t>
                </a:r>
                <a:r>
                  <a:rPr lang="ru-RU" sz="12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что</a:t>
                </a: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ru-RU" sz="1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ru-RU" sz="1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ru-RU" sz="12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– функция Грина</a:t>
                </a: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Для начала проводится доказательство соблюдения условия (10) при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&lt; 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 =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ru-RU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ru-RU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 = 0,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так как </a:t>
                </a:r>
                <a14:m>
                  <m:oMath xmlns:m="http://schemas.openxmlformats.org/officeDocument/2006/math"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является решением однородного уравнения, соответствующего уравнению </a:t>
                </a:r>
                <a:r>
                  <a:rPr lang="ru-RU" sz="12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задачи</a:t>
                </a: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Далее, при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&gt; 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получается:</a:t>
                </a:r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  <m:d>
                      <m:d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d>
                          <m:d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  <m:r>
                              <a:rPr lang="ru-RU" sz="12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</m:d>
                      </m:e>
                    </m:d>
                    <m:r>
                      <a:rPr lang="ru-RU" sz="12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d>
                          <m:d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</m:d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ru-RU" sz="12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0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так как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является решением однородного уравнения, соответствующего уравнению (9).</a:t>
                </a:r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при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 =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+ 1,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 baseline="-25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 baseline="-25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−1, 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=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+1) + </m:t>
                    </m:r>
                    <m:sSub>
                      <m:sSub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+ </m:t>
                    </m:r>
                    <m:sSub>
                      <m:sSub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)] = 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 + 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=0 +</m:t>
                    </m:r>
                    <m:f>
                      <m:fPr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=</m:t>
                    </m:r>
                    <m:d>
                      <m:dPr>
                        <m:begChr m:val="{"/>
                        <m:endChr m:val="}"/>
                        <m:ctrlP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)=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+1)</m:t>
                                  </m:r>
                                </m:e>
                                <m:e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ru-RU" sz="12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+1)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+1) − 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+1)=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)∙[ −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)− 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−1)]− 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)∙[−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)− 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−1)] = −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 + 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  = </m:t>
                        </m:r>
                        <m:sSub>
                          <m:sSubPr>
                            <m:ctrlP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)∙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ru-RU" sz="1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 </m:t>
                        </m:r>
                      </m:e>
                    </m:d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Доказательство удовлетворения функцией </a:t>
                </a:r>
                <a14:m>
                  <m:oMath xmlns:m="http://schemas.openxmlformats.org/officeDocument/2006/math"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1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условиям </a:t>
                </a:r>
                <a:r>
                  <a:rPr lang="ru-RU" sz="12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для функции Грина</a:t>
                </a:r>
                <a:r>
                  <a:rPr lang="ru-RU" sz="12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завершено.</a:t>
                </a:r>
                <a:endParaRPr lang="ru-RU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443FDA-E93C-025C-2BDE-03EF5504D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393"/>
                <a:ext cx="8784976" cy="4682116"/>
              </a:xfrm>
              <a:prstGeom prst="rect">
                <a:avLst/>
              </a:prstGeom>
              <a:blipFill>
                <a:blip r:embed="rId2"/>
                <a:stretch>
                  <a:fillRect b="-12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2024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3682</TotalTime>
  <Words>2748</Words>
  <Application>Microsoft Office PowerPoint</Application>
  <PresentationFormat>Экран (16:9)</PresentationFormat>
  <Paragraphs>347</Paragraphs>
  <Slides>23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PT Sans</vt:lpstr>
      <vt:lpstr>PT Sans Caption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Рузия Османова</cp:lastModifiedBy>
  <cp:revision>192</cp:revision>
  <dcterms:created xsi:type="dcterms:W3CDTF">2020-07-15T10:53:07Z</dcterms:created>
  <dcterms:modified xsi:type="dcterms:W3CDTF">2025-06-30T19:31:20Z</dcterms:modified>
</cp:coreProperties>
</file>